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2" r:id="rId3"/>
    <p:sldId id="267" r:id="rId4"/>
    <p:sldId id="268" r:id="rId5"/>
    <p:sldId id="296" r:id="rId6"/>
    <p:sldId id="297" r:id="rId7"/>
    <p:sldId id="29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57" r:id="rId29"/>
    <p:sldId id="258" r:id="rId30"/>
    <p:sldId id="259" r:id="rId31"/>
    <p:sldId id="260" r:id="rId32"/>
    <p:sldId id="261" r:id="rId33"/>
    <p:sldId id="262" r:id="rId34"/>
    <p:sldId id="263" r:id="rId35"/>
    <p:sldId id="264" r:id="rId36"/>
    <p:sldId id="265" r:id="rId37"/>
    <p:sldId id="266" r:id="rId38"/>
    <p:sldId id="289" r:id="rId39"/>
    <p:sldId id="290" r:id="rId40"/>
    <p:sldId id="291" r:id="rId41"/>
    <p:sldId id="292" r:id="rId42"/>
    <p:sldId id="293" r:id="rId43"/>
    <p:sldId id="299" r:id="rId44"/>
    <p:sldId id="294" r:id="rId45"/>
    <p:sldId id="295" r:id="rId46"/>
    <p:sldId id="301" r:id="rId47"/>
    <p:sldId id="302" r:id="rId48"/>
    <p:sldId id="303" r:id="rId49"/>
    <p:sldId id="300"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2" r:id="rId68"/>
    <p:sldId id="323" r:id="rId69"/>
    <p:sldId id="324" r:id="rId70"/>
    <p:sldId id="325" r:id="rId71"/>
    <p:sldId id="321"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Lst>
  <p:sldSz cx="9144000" cy="6858000" type="screen4x3"/>
  <p:notesSz cx="6951663" cy="100822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en.wikipedia.org/wiki/Managemen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4 Methodologies	</a:t>
            </a:r>
            <a:endParaRPr lang="en-US" dirty="0"/>
          </a:p>
        </p:txBody>
      </p:sp>
      <p:sp>
        <p:nvSpPr>
          <p:cNvPr id="3" name="Subtitle 2"/>
          <p:cNvSpPr>
            <a:spLocks noGrp="1"/>
          </p:cNvSpPr>
          <p:nvPr>
            <p:ph type="subTitle" idx="1"/>
          </p:nvPr>
        </p:nvSpPr>
        <p:spPr>
          <a:xfrm>
            <a:off x="1143000" y="3886200"/>
            <a:ext cx="6400800" cy="533400"/>
          </a:xfrm>
        </p:spPr>
        <p:txBody>
          <a:bodyPr>
            <a:normAutofit lnSpcReduction="10000"/>
          </a:bodyPr>
          <a:lstStyle/>
          <a:p>
            <a:r>
              <a:rPr lang="en-US" dirty="0" smtClean="0">
                <a:solidFill>
                  <a:schemeClr val="accent2"/>
                </a:solidFill>
              </a:rPr>
              <a:t>To be handled by</a:t>
            </a:r>
            <a:endParaRPr lang="en-US" dirty="0">
              <a:solidFill>
                <a:schemeClr val="accent2"/>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Chapter 4 –Methodologies</a:t>
            </a:r>
            <a:br>
              <a:rPr lang="en-IN" dirty="0" smtClean="0"/>
            </a:br>
            <a:endParaRPr lang="en-IN" dirty="0"/>
          </a:p>
        </p:txBody>
      </p:sp>
      <p:sp>
        <p:nvSpPr>
          <p:cNvPr id="3" name="Content Placeholder 2"/>
          <p:cNvSpPr>
            <a:spLocks noGrp="1"/>
          </p:cNvSpPr>
          <p:nvPr>
            <p:ph idx="1"/>
          </p:nvPr>
        </p:nvSpPr>
        <p:spPr/>
        <p:txBody>
          <a:bodyPr>
            <a:normAutofit fontScale="92500"/>
          </a:bodyPr>
          <a:lstStyle/>
          <a:p>
            <a:r>
              <a:rPr lang="en-IN" dirty="0" smtClean="0"/>
              <a:t>“Methodology Concepts” covers the concepts needed to design and compare methodologies.</a:t>
            </a:r>
          </a:p>
          <a:p>
            <a:r>
              <a:rPr lang="en-IN" dirty="0" smtClean="0"/>
              <a:t>“Methodology Design Principles” discusses 7 principles that can be used to guide the design of a methodology.</a:t>
            </a:r>
          </a:p>
          <a:p>
            <a:r>
              <a:rPr lang="en-IN" dirty="0" smtClean="0"/>
              <a:t>“XP under Glass” applies the principles to analyse an existing, agile methodology. It also discusses how to use the principles to adjust XP for slightly different situations. </a:t>
            </a:r>
          </a:p>
          <a:p>
            <a:pPr marL="0" indent="0">
              <a:buNone/>
            </a:pPr>
            <a:endParaRPr lang="en-IN" dirty="0"/>
          </a:p>
        </p:txBody>
      </p:sp>
    </p:spTree>
    <p:extLst>
      <p:ext uri="{BB962C8B-B14F-4D97-AF65-F5344CB8AC3E}">
        <p14:creationId xmlns:p14="http://schemas.microsoft.com/office/powerpoint/2010/main" val="36238565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An Ecosystem that Ships Software</a:t>
            </a:r>
            <a:br>
              <a:rPr lang="en-US" dirty="0" smtClean="0"/>
            </a:br>
            <a:r>
              <a:rPr lang="en-US" dirty="0" smtClean="0"/>
              <a:t>	</a:t>
            </a:r>
            <a:endParaRPr lang="en-US" dirty="0"/>
          </a:p>
        </p:txBody>
      </p:sp>
      <p:sp>
        <p:nvSpPr>
          <p:cNvPr id="3" name="Content Placeholder 2"/>
          <p:cNvSpPr>
            <a:spLocks noGrp="1"/>
          </p:cNvSpPr>
          <p:nvPr>
            <p:ph idx="1"/>
          </p:nvPr>
        </p:nvSpPr>
        <p:spPr/>
        <p:txBody>
          <a:bodyPr/>
          <a:lstStyle/>
          <a:p>
            <a:r>
              <a:rPr lang="en-US" dirty="0" smtClean="0"/>
              <a:t>“Methodology “ is everything we regularly do to get our software out</a:t>
            </a:r>
          </a:p>
          <a:p>
            <a:r>
              <a:rPr lang="en-US" dirty="0" smtClean="0"/>
              <a:t>A methodology is the conventions that your group agrees to </a:t>
            </a:r>
          </a:p>
          <a:p>
            <a:pPr>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Methodology concepts</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304800" y="1371600"/>
            <a:ext cx="8610600" cy="5295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MBWA</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a:t>
            </a:r>
            <a:r>
              <a:rPr lang="en-US" b="1" dirty="0" smtClean="0"/>
              <a:t>management by wandering around</a:t>
            </a:r>
            <a:r>
              <a:rPr lang="en-US" dirty="0" smtClean="0"/>
              <a:t> (</a:t>
            </a:r>
            <a:r>
              <a:rPr lang="en-US" b="1" dirty="0" smtClean="0"/>
              <a:t>MBWA</a:t>
            </a:r>
            <a:r>
              <a:rPr lang="en-US" dirty="0" smtClean="0"/>
              <a:t>), also </a:t>
            </a:r>
            <a:r>
              <a:rPr lang="en-US" b="1" dirty="0" smtClean="0"/>
              <a:t>management by walking around</a:t>
            </a:r>
            <a:r>
              <a:rPr lang="en-US" dirty="0" smtClean="0"/>
              <a:t>, refers to a style of business </a:t>
            </a:r>
            <a:r>
              <a:rPr lang="en-US" dirty="0" smtClean="0">
                <a:hlinkClick r:id="rId2" tooltip="Management"/>
              </a:rPr>
              <a:t>management</a:t>
            </a:r>
            <a:r>
              <a:rPr lang="en-US" dirty="0" smtClean="0"/>
              <a:t> which involves managers wandering around, in an unstructured manner, through the workplace(s), at random, to check with employees, equipment, or on the status of ongoing work. The emphasis is on the word </a:t>
            </a:r>
            <a:r>
              <a:rPr lang="en-US" i="1" dirty="0" smtClean="0"/>
              <a:t>wandering</a:t>
            </a:r>
            <a:r>
              <a:rPr lang="en-US" dirty="0" smtClean="0"/>
              <a:t> as an unplanned movement within a workplace, rather than a plan where employees expect a visit from managers at more systematic, pre-approved or scheduled times. </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JAD</a:t>
            </a:r>
            <a:endParaRPr lang="en-US" dirty="0"/>
          </a:p>
        </p:txBody>
      </p:sp>
      <p:sp>
        <p:nvSpPr>
          <p:cNvPr id="3" name="Content Placeholder 2"/>
          <p:cNvSpPr>
            <a:spLocks noGrp="1"/>
          </p:cNvSpPr>
          <p:nvPr>
            <p:ph idx="1"/>
          </p:nvPr>
        </p:nvSpPr>
        <p:spPr/>
        <p:txBody>
          <a:bodyPr/>
          <a:lstStyle/>
          <a:p>
            <a:r>
              <a:rPr lang="en-US" dirty="0" smtClean="0"/>
              <a:t>Joint application design (</a:t>
            </a:r>
            <a:r>
              <a:rPr lang="en-US" b="1" dirty="0" smtClean="0"/>
              <a:t>JAD</a:t>
            </a:r>
            <a:r>
              <a:rPr lang="en-US" dirty="0" smtClean="0"/>
              <a:t>) is a process used in the life cycle area of the dynamic systems development method (DSDM) to collect business requirements while developing new information systems for a company</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CLASS RESPONSIBILITY COLLABORATOR (CRC)</a:t>
            </a:r>
          </a:p>
          <a:p>
            <a:r>
              <a:rPr lang="en-US" dirty="0" smtClean="0"/>
              <a:t>SPANNING TREE PROTOCOL (STP)</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of methodology</a:t>
            </a:r>
            <a:endParaRPr lang="en-US" dirty="0"/>
          </a:p>
        </p:txBody>
      </p:sp>
      <p:sp>
        <p:nvSpPr>
          <p:cNvPr id="3" name="Content Placeholder 2"/>
          <p:cNvSpPr>
            <a:spLocks noGrp="1"/>
          </p:cNvSpPr>
          <p:nvPr>
            <p:ph idx="1"/>
          </p:nvPr>
        </p:nvSpPr>
        <p:spPr/>
        <p:txBody>
          <a:bodyPr/>
          <a:lstStyle/>
          <a:p>
            <a:r>
              <a:rPr lang="en-US" dirty="0" smtClean="0">
                <a:solidFill>
                  <a:srgbClr val="FF0000"/>
                </a:solidFill>
              </a:rPr>
              <a:t>Roles :</a:t>
            </a:r>
            <a:r>
              <a:rPr lang="en-US" dirty="0" smtClean="0"/>
              <a:t> who you employ, what you employ for them, what skills they are supposed to have</a:t>
            </a:r>
          </a:p>
          <a:p>
            <a:r>
              <a:rPr lang="en-US" dirty="0" smtClean="0"/>
              <a:t>A project manager should be good with people</a:t>
            </a:r>
          </a:p>
          <a:p>
            <a:r>
              <a:rPr lang="en-US" dirty="0" smtClean="0"/>
              <a:t>A program designer should have good abstraction capabilities</a:t>
            </a:r>
          </a:p>
          <a:p>
            <a:r>
              <a:rPr lang="en-US" dirty="0" smtClean="0"/>
              <a:t>A Mentor should be good at explaining things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229600" cy="4525963"/>
          </a:xfrm>
        </p:spPr>
        <p:txBody>
          <a:bodyPr>
            <a:normAutofit lnSpcReduction="10000"/>
          </a:bodyPr>
          <a:lstStyle/>
          <a:p>
            <a:r>
              <a:rPr lang="en-US" dirty="0" smtClean="0">
                <a:solidFill>
                  <a:srgbClr val="FF0000"/>
                </a:solidFill>
              </a:rPr>
              <a:t>Skills : </a:t>
            </a:r>
            <a:r>
              <a:rPr lang="en-US" dirty="0" smtClean="0"/>
              <a:t>Training and talent is essential for employees</a:t>
            </a:r>
          </a:p>
          <a:p>
            <a:r>
              <a:rPr lang="en-US" dirty="0" smtClean="0"/>
              <a:t>User Interface designers learn how to conduct usability examinations and do paper-based prototyping</a:t>
            </a:r>
          </a:p>
          <a:p>
            <a:r>
              <a:rPr lang="en-US" dirty="0" smtClean="0"/>
              <a:t>Managers learn interviewing, motivating, hiring and critical path management skills</a:t>
            </a:r>
          </a:p>
          <a:p>
            <a:r>
              <a:rPr lang="en-US" dirty="0" smtClean="0"/>
              <a:t>Skills can acquired through training and practice</a:t>
            </a:r>
          </a:p>
          <a:p>
            <a:endParaRPr lang="en-US" dirty="0">
              <a:solidFill>
                <a:srgbClr val="FF000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None/>
            </a:pPr>
            <a:r>
              <a:rPr lang="en-US" dirty="0" smtClean="0">
                <a:solidFill>
                  <a:srgbClr val="FF0000"/>
                </a:solidFill>
              </a:rPr>
              <a:t>Teams :</a:t>
            </a:r>
          </a:p>
          <a:p>
            <a:pPr>
              <a:buNone/>
            </a:pPr>
            <a:r>
              <a:rPr lang="en-US" dirty="0" smtClean="0"/>
              <a:t>There may be one team for a small project</a:t>
            </a:r>
          </a:p>
          <a:p>
            <a:pPr>
              <a:buNone/>
            </a:pPr>
            <a:endParaRPr lang="en-US" dirty="0" smtClean="0"/>
          </a:p>
          <a:p>
            <a:pPr>
              <a:buNone/>
            </a:pPr>
            <a:r>
              <a:rPr lang="en-US" dirty="0" smtClean="0"/>
              <a:t>On a Large Project, there are likely to be multiple, overlapping teams aiming at </a:t>
            </a:r>
          </a:p>
          <a:p>
            <a:pPr>
              <a:buNone/>
            </a:pPr>
            <a:r>
              <a:rPr lang="en-US" dirty="0" smtClean="0"/>
              <a:t>    specific technologies or</a:t>
            </a:r>
          </a:p>
          <a:p>
            <a:pPr>
              <a:buNone/>
            </a:pPr>
            <a:r>
              <a:rPr lang="en-US" dirty="0" smtClean="0"/>
              <a:t>    system’s architecture or </a:t>
            </a:r>
          </a:p>
          <a:p>
            <a:pPr>
              <a:buNone/>
            </a:pPr>
            <a:r>
              <a:rPr lang="en-US" dirty="0" smtClean="0"/>
              <a:t>    steering the project</a:t>
            </a:r>
          </a:p>
          <a:p>
            <a:pPr>
              <a:buNone/>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r>
              <a:rPr lang="en-US" dirty="0" smtClean="0">
                <a:solidFill>
                  <a:srgbClr val="FF0000"/>
                </a:solidFill>
              </a:rPr>
              <a:t>Techniques:</a:t>
            </a:r>
          </a:p>
          <a:p>
            <a:r>
              <a:rPr lang="en-US" dirty="0" smtClean="0"/>
              <a:t>Specific procedures people use to accomplish task</a:t>
            </a:r>
          </a:p>
          <a:p>
            <a:pPr>
              <a:buNone/>
            </a:pPr>
            <a:r>
              <a:rPr lang="en-US" dirty="0" smtClean="0"/>
              <a:t>Individual (single person) tasks are :</a:t>
            </a:r>
          </a:p>
          <a:p>
            <a:pPr>
              <a:buNone/>
            </a:pPr>
            <a:r>
              <a:rPr lang="en-US" dirty="0" smtClean="0"/>
              <a:t>    1. Writing a use case</a:t>
            </a:r>
          </a:p>
          <a:p>
            <a:pPr>
              <a:buNone/>
            </a:pPr>
            <a:r>
              <a:rPr lang="en-US" dirty="0" smtClean="0"/>
              <a:t>    2. Designing a class or test case</a:t>
            </a:r>
          </a:p>
          <a:p>
            <a:pPr>
              <a:buNone/>
            </a:pPr>
            <a:r>
              <a:rPr lang="en-US" dirty="0" smtClean="0"/>
              <a:t>Group tasks are </a:t>
            </a:r>
            <a:r>
              <a:rPr lang="en-US" dirty="0" smtClean="0">
                <a:sym typeface="Wingdings" pitchFamily="2" charset="2"/>
              </a:rPr>
              <a:t>(done by a group of people)</a:t>
            </a:r>
            <a:endParaRPr lang="en-US" dirty="0" smtClean="0"/>
          </a:p>
          <a:p>
            <a:pPr>
              <a:buNone/>
            </a:pPr>
            <a:r>
              <a:rPr lang="en-US" dirty="0" smtClean="0"/>
              <a:t>   1. Group planning sessions</a:t>
            </a:r>
          </a:p>
          <a:p>
            <a:pPr>
              <a:buNone/>
            </a:pPr>
            <a:r>
              <a:rPr lang="en-US" dirty="0" smtClean="0"/>
              <a:t>   2. Project retrospectives</a:t>
            </a:r>
          </a:p>
          <a:p>
            <a:pPr>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dirty="0" smtClean="0">
                <a:solidFill>
                  <a:srgbClr val="FF0000"/>
                </a:solidFill>
              </a:rPr>
              <a:t>Activities</a:t>
            </a:r>
          </a:p>
          <a:p>
            <a:r>
              <a:rPr lang="en-US" dirty="0" smtClean="0"/>
              <a:t>How the people spend their days</a:t>
            </a:r>
          </a:p>
          <a:p>
            <a:r>
              <a:rPr lang="en-US" dirty="0" smtClean="0"/>
              <a:t>Planning, programming, testing and meeting are </a:t>
            </a:r>
            <a:r>
              <a:rPr lang="en-US" smtClean="0"/>
              <a:t>sample activities</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r>
              <a:rPr lang="en-US" dirty="0" smtClean="0">
                <a:solidFill>
                  <a:srgbClr val="FF0000"/>
                </a:solidFill>
              </a:rPr>
              <a:t>Process</a:t>
            </a:r>
          </a:p>
          <a:p>
            <a:r>
              <a:rPr lang="en-US" dirty="0" smtClean="0"/>
              <a:t>How activities fit together over time and with pre and post conditions?</a:t>
            </a:r>
          </a:p>
          <a:p>
            <a:pPr>
              <a:buNone/>
            </a:pPr>
            <a:endParaRPr lang="en-US" dirty="0" smtClean="0">
              <a:solidFill>
                <a:srgbClr val="FF0000"/>
              </a:solidFill>
            </a:endParaRPr>
          </a:p>
          <a:p>
            <a:pPr>
              <a:buNone/>
            </a:pPr>
            <a:endParaRPr lang="en-US" dirty="0" smtClean="0">
              <a:solidFill>
                <a:srgbClr val="FF0000"/>
              </a:solidFill>
            </a:endParaRPr>
          </a:p>
          <a:p>
            <a:pPr>
              <a:buNone/>
            </a:pPr>
            <a:endParaRPr lang="en-US" dirty="0">
              <a:solidFill>
                <a:srgbClr val="FF000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solidFill>
                  <a:srgbClr val="FF0000"/>
                </a:solidFill>
              </a:rPr>
              <a:t>Work products</a:t>
            </a:r>
          </a:p>
          <a:p>
            <a:r>
              <a:rPr lang="en-US" dirty="0" smtClean="0"/>
              <a:t>What someone constructs.</a:t>
            </a:r>
          </a:p>
          <a:p>
            <a:r>
              <a:rPr lang="en-US" dirty="0" smtClean="0"/>
              <a:t>A work product may be disposable like user manual or source code</a:t>
            </a:r>
          </a:p>
          <a:p>
            <a:r>
              <a:rPr lang="en-US" dirty="0" smtClean="0">
                <a:solidFill>
                  <a:srgbClr val="FF0000"/>
                </a:solidFill>
              </a:rPr>
              <a:t>Milestones</a:t>
            </a:r>
          </a:p>
          <a:p>
            <a:r>
              <a:rPr lang="en-US" dirty="0" smtClean="0"/>
              <a:t>Events marking progress or completion</a:t>
            </a:r>
          </a:p>
          <a:p>
            <a:r>
              <a:rPr lang="en-US" dirty="0" err="1" smtClean="0"/>
              <a:t>Eg</a:t>
            </a:r>
            <a:r>
              <a:rPr lang="en-US" dirty="0" smtClean="0"/>
              <a:t>. A code is delivered, Meeting was held</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92500" lnSpcReduction="20000"/>
          </a:bodyPr>
          <a:lstStyle/>
          <a:p>
            <a:r>
              <a:rPr lang="en-US" dirty="0" smtClean="0">
                <a:solidFill>
                  <a:srgbClr val="FF0000"/>
                </a:solidFill>
              </a:rPr>
              <a:t>Standards</a:t>
            </a:r>
            <a:endParaRPr lang="en-US" dirty="0" smtClean="0"/>
          </a:p>
          <a:p>
            <a:pPr>
              <a:buNone/>
            </a:pPr>
            <a:r>
              <a:rPr lang="en-US" dirty="0" smtClean="0"/>
              <a:t>Coding standards must be in practice</a:t>
            </a:r>
          </a:p>
          <a:p>
            <a:pPr>
              <a:buNone/>
            </a:pPr>
            <a:r>
              <a:rPr lang="en-US" dirty="0" err="1" smtClean="0"/>
              <a:t>Eg</a:t>
            </a:r>
            <a:r>
              <a:rPr lang="en-US" dirty="0" smtClean="0"/>
              <a:t>. We will be using fully portable Java.</a:t>
            </a:r>
          </a:p>
          <a:p>
            <a:pPr>
              <a:buNone/>
            </a:pPr>
            <a:r>
              <a:rPr lang="en-US" dirty="0" smtClean="0"/>
              <a:t>      We will use Microsoft Project</a:t>
            </a:r>
            <a:endParaRPr lang="en-US" dirty="0" smtClean="0">
              <a:solidFill>
                <a:srgbClr val="FF0000"/>
              </a:solidFill>
            </a:endParaRPr>
          </a:p>
          <a:p>
            <a:r>
              <a:rPr lang="en-US" dirty="0" smtClean="0">
                <a:solidFill>
                  <a:srgbClr val="FF0000"/>
                </a:solidFill>
              </a:rPr>
              <a:t>Quality</a:t>
            </a:r>
          </a:p>
          <a:p>
            <a:pPr>
              <a:buNone/>
            </a:pPr>
            <a:r>
              <a:rPr lang="en-US" dirty="0" smtClean="0"/>
              <a:t>All checked in code must pass unit tests at 100</a:t>
            </a:r>
          </a:p>
          <a:p>
            <a:pPr>
              <a:buNone/>
            </a:pPr>
            <a:r>
              <a:rPr lang="en-US" dirty="0" smtClean="0"/>
              <a:t>Percent at all times</a:t>
            </a:r>
            <a:endParaRPr lang="en-US" dirty="0" smtClean="0">
              <a:solidFill>
                <a:srgbClr val="FF0000"/>
              </a:solidFill>
            </a:endParaRPr>
          </a:p>
          <a:p>
            <a:r>
              <a:rPr lang="en-US" dirty="0" smtClean="0">
                <a:solidFill>
                  <a:srgbClr val="FF0000"/>
                </a:solidFill>
              </a:rPr>
              <a:t>Team Values</a:t>
            </a:r>
          </a:p>
          <a:p>
            <a:pPr>
              <a:buNone/>
            </a:pPr>
            <a:r>
              <a:rPr lang="en-US" dirty="0" smtClean="0"/>
              <a:t>An aggressive team working on quick-to-market value will work very differently than a group that values families and goes home at a regular time every night</a:t>
            </a:r>
          </a:p>
          <a:p>
            <a:pPr>
              <a:buNone/>
            </a:pP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Methodologies</a:t>
            </a:r>
            <a:endParaRPr lang="en-US" dirty="0"/>
          </a:p>
        </p:txBody>
      </p:sp>
      <p:sp>
        <p:nvSpPr>
          <p:cNvPr id="3" name="Content Placeholder 2"/>
          <p:cNvSpPr>
            <a:spLocks noGrp="1"/>
          </p:cNvSpPr>
          <p:nvPr>
            <p:ph idx="1"/>
          </p:nvPr>
        </p:nvSpPr>
        <p:spPr/>
        <p:txBody>
          <a:bodyPr/>
          <a:lstStyle/>
          <a:p>
            <a:r>
              <a:rPr lang="en-US" dirty="0" smtClean="0"/>
              <a:t>1. Normative</a:t>
            </a:r>
          </a:p>
          <a:p>
            <a:r>
              <a:rPr lang="en-US" dirty="0" smtClean="0"/>
              <a:t>2. Rational</a:t>
            </a:r>
          </a:p>
          <a:p>
            <a:r>
              <a:rPr lang="en-US" dirty="0" smtClean="0"/>
              <a:t>3. Participative</a:t>
            </a:r>
          </a:p>
          <a:p>
            <a:r>
              <a:rPr lang="en-US" dirty="0" smtClean="0"/>
              <a:t>4. Heuristic</a:t>
            </a:r>
          </a:p>
          <a:p>
            <a:pPr>
              <a:buNone/>
            </a:pP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Normative</a:t>
            </a:r>
            <a:endParaRPr lang="en-US" dirty="0"/>
          </a:p>
        </p:txBody>
      </p:sp>
      <p:sp>
        <p:nvSpPr>
          <p:cNvPr id="3" name="Content Placeholder 2"/>
          <p:cNvSpPr>
            <a:spLocks noGrp="1"/>
          </p:cNvSpPr>
          <p:nvPr>
            <p:ph idx="1"/>
          </p:nvPr>
        </p:nvSpPr>
        <p:spPr/>
        <p:txBody>
          <a:bodyPr/>
          <a:lstStyle/>
          <a:p>
            <a:r>
              <a:rPr lang="en-US" dirty="0" smtClean="0"/>
              <a:t>Based on solutions or sequences of steps known to work for the discipline</a:t>
            </a:r>
          </a:p>
          <a:p>
            <a:r>
              <a:rPr lang="en-US" dirty="0" smtClean="0"/>
              <a:t>Electrical and other building codes in house wiring are examples</a:t>
            </a:r>
          </a:p>
          <a:p>
            <a:r>
              <a:rPr lang="en-US" dirty="0" smtClean="0"/>
              <a:t>In software development, one would include state diagram verification</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Rational</a:t>
            </a:r>
            <a:endParaRPr lang="en-US" dirty="0"/>
          </a:p>
        </p:txBody>
      </p:sp>
      <p:sp>
        <p:nvSpPr>
          <p:cNvPr id="3" name="Content Placeholder 2"/>
          <p:cNvSpPr>
            <a:spLocks noGrp="1"/>
          </p:cNvSpPr>
          <p:nvPr>
            <p:ph idx="1"/>
          </p:nvPr>
        </p:nvSpPr>
        <p:spPr/>
        <p:txBody>
          <a:bodyPr/>
          <a:lstStyle/>
          <a:p>
            <a:r>
              <a:rPr lang="en-US" dirty="0" smtClean="0"/>
              <a:t>Based on a method and technique</a:t>
            </a:r>
          </a:p>
          <a:p>
            <a:r>
              <a:rPr lang="en-US" dirty="0" smtClean="0"/>
              <a:t>They will be used for System analysis and engineering disciplines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Participative</a:t>
            </a:r>
            <a:endParaRPr lang="en-US" dirty="0"/>
          </a:p>
        </p:txBody>
      </p:sp>
      <p:sp>
        <p:nvSpPr>
          <p:cNvPr id="3" name="Content Placeholder 2"/>
          <p:cNvSpPr>
            <a:spLocks noGrp="1"/>
          </p:cNvSpPr>
          <p:nvPr>
            <p:ph idx="1"/>
          </p:nvPr>
        </p:nvSpPr>
        <p:spPr/>
        <p:txBody>
          <a:bodyPr/>
          <a:lstStyle/>
          <a:p>
            <a:r>
              <a:rPr lang="en-US" dirty="0" smtClean="0"/>
              <a:t>Based on stake holders</a:t>
            </a:r>
          </a:p>
          <a:p>
            <a:r>
              <a:rPr lang="en-US" dirty="0" smtClean="0"/>
              <a:t>Capture aspects of customer involvement</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Heuristic</a:t>
            </a:r>
            <a:endParaRPr lang="en-US" dirty="0"/>
          </a:p>
        </p:txBody>
      </p:sp>
      <p:sp>
        <p:nvSpPr>
          <p:cNvPr id="3" name="Content Placeholder 2"/>
          <p:cNvSpPr>
            <a:spLocks noGrp="1"/>
          </p:cNvSpPr>
          <p:nvPr>
            <p:ph idx="1"/>
          </p:nvPr>
        </p:nvSpPr>
        <p:spPr/>
        <p:txBody>
          <a:bodyPr/>
          <a:lstStyle/>
          <a:p>
            <a:r>
              <a:rPr lang="en-US" dirty="0" smtClean="0"/>
              <a:t>Based on lessons learned</a:t>
            </a:r>
          </a:p>
          <a:p>
            <a:r>
              <a:rPr lang="en-US" dirty="0" smtClean="0"/>
              <a:t>Based on experience</a:t>
            </a:r>
          </a:p>
          <a:p>
            <a:pPr>
              <a:buNone/>
            </a:pP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Milestones</a:t>
            </a:r>
            <a:endParaRPr lang="en-US" dirty="0"/>
          </a:p>
        </p:txBody>
      </p:sp>
      <p:sp>
        <p:nvSpPr>
          <p:cNvPr id="3" name="Content Placeholder 2"/>
          <p:cNvSpPr>
            <a:spLocks noGrp="1"/>
          </p:cNvSpPr>
          <p:nvPr>
            <p:ph idx="1"/>
          </p:nvPr>
        </p:nvSpPr>
        <p:spPr/>
        <p:txBody>
          <a:bodyPr/>
          <a:lstStyle/>
          <a:p>
            <a:pPr>
              <a:buNone/>
            </a:pPr>
            <a:r>
              <a:rPr lang="en-US" dirty="0" smtClean="0"/>
              <a:t>Three kinds of milestones are used on projects</a:t>
            </a:r>
          </a:p>
          <a:p>
            <a:r>
              <a:rPr lang="en-US" dirty="0" smtClean="0"/>
              <a:t>Reviews</a:t>
            </a:r>
          </a:p>
          <a:p>
            <a:r>
              <a:rPr lang="en-US" dirty="0" smtClean="0"/>
              <a:t>Publications</a:t>
            </a:r>
          </a:p>
          <a:p>
            <a:r>
              <a:rPr lang="en-US" dirty="0" smtClean="0"/>
              <a:t>Declarations</a:t>
            </a:r>
          </a:p>
          <a:p>
            <a:pPr>
              <a:buNone/>
            </a:pP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Reviews</a:t>
            </a:r>
            <a:endParaRPr lang="en-US" dirty="0"/>
          </a:p>
        </p:txBody>
      </p:sp>
      <p:sp>
        <p:nvSpPr>
          <p:cNvPr id="3" name="Content Placeholder 2"/>
          <p:cNvSpPr>
            <a:spLocks noGrp="1"/>
          </p:cNvSpPr>
          <p:nvPr>
            <p:ph idx="1"/>
          </p:nvPr>
        </p:nvSpPr>
        <p:spPr/>
        <p:txBody>
          <a:bodyPr/>
          <a:lstStyle/>
          <a:p>
            <a:pPr>
              <a:buNone/>
            </a:pPr>
            <a:r>
              <a:rPr lang="en-US" dirty="0" smtClean="0"/>
              <a:t>We care about the following questions during a review:</a:t>
            </a:r>
          </a:p>
          <a:p>
            <a:r>
              <a:rPr lang="en-US" dirty="0" smtClean="0"/>
              <a:t>Who is reviewing?</a:t>
            </a:r>
          </a:p>
          <a:p>
            <a:r>
              <a:rPr lang="en-US" dirty="0" smtClean="0"/>
              <a:t>What are they reviewing?</a:t>
            </a:r>
          </a:p>
          <a:p>
            <a:r>
              <a:rPr lang="en-US" dirty="0" smtClean="0"/>
              <a:t>Who created that item?</a:t>
            </a:r>
          </a:p>
          <a:p>
            <a:r>
              <a:rPr lang="en-US" dirty="0" smtClean="0"/>
              <a:t>What is the outcome of the review?</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Publication</a:t>
            </a:r>
            <a:endParaRPr lang="en-US" dirty="0"/>
          </a:p>
        </p:txBody>
      </p:sp>
      <p:sp>
        <p:nvSpPr>
          <p:cNvPr id="3" name="Content Placeholder 2"/>
          <p:cNvSpPr>
            <a:spLocks noGrp="1"/>
          </p:cNvSpPr>
          <p:nvPr>
            <p:ph idx="1"/>
          </p:nvPr>
        </p:nvSpPr>
        <p:spPr/>
        <p:txBody>
          <a:bodyPr/>
          <a:lstStyle/>
          <a:p>
            <a:r>
              <a:rPr lang="en-US" dirty="0" smtClean="0"/>
              <a:t>A publication occurs whenever a work product is distributed or posted for open viewing</a:t>
            </a:r>
          </a:p>
          <a:p>
            <a:r>
              <a:rPr lang="en-US" dirty="0" smtClean="0"/>
              <a:t>Sending our meeting minutes, checking source code into a configuration-management system and deploying software to users’ workstations are examples of publication</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Declaration</a:t>
            </a:r>
            <a:endParaRPr lang="en-US" dirty="0"/>
          </a:p>
        </p:txBody>
      </p:sp>
      <p:sp>
        <p:nvSpPr>
          <p:cNvPr id="3" name="Content Placeholder 2"/>
          <p:cNvSpPr>
            <a:spLocks noGrp="1"/>
          </p:cNvSpPr>
          <p:nvPr>
            <p:ph idx="1"/>
          </p:nvPr>
        </p:nvSpPr>
        <p:spPr/>
        <p:txBody>
          <a:bodyPr/>
          <a:lstStyle/>
          <a:p>
            <a:r>
              <a:rPr lang="en-US" dirty="0" smtClean="0"/>
              <a:t>Declaration milestone is a verbal notice from one person to another or to multiple people, that a milestone was reached.</a:t>
            </a:r>
          </a:p>
          <a:p>
            <a:r>
              <a:rPr lang="en-US" dirty="0" smtClean="0"/>
              <a:t>It is simply an announcement or a promise</a:t>
            </a:r>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of Methodology</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09550" y="1104900"/>
            <a:ext cx="8724900" cy="5067300"/>
          </a:xfrm>
          <a:prstGeom prst="rect">
            <a:avLst/>
          </a:prstGeom>
          <a:noFill/>
          <a:ln w="9525">
            <a:noFill/>
            <a:miter lim="800000"/>
            <a:headEnd/>
            <a:tailEnd/>
          </a:ln>
        </p:spPr>
      </p:pic>
      <p:sp>
        <p:nvSpPr>
          <p:cNvPr id="5" name="TextBox 4"/>
          <p:cNvSpPr txBox="1"/>
          <p:nvPr/>
        </p:nvSpPr>
        <p:spPr>
          <a:xfrm>
            <a:off x="838200" y="6324600"/>
            <a:ext cx="8118295" cy="369332"/>
          </a:xfrm>
          <a:prstGeom prst="rect">
            <a:avLst/>
          </a:prstGeom>
          <a:noFill/>
        </p:spPr>
        <p:txBody>
          <a:bodyPr wrap="square" rtlCol="0">
            <a:spAutoFit/>
          </a:bodyPr>
          <a:lstStyle/>
          <a:p>
            <a:r>
              <a:rPr lang="en-US" dirty="0" smtClean="0"/>
              <a:t>The three dimensions of scope. A methodology selects a subset of all three.</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Three dimensions of scope</a:t>
            </a:r>
            <a:endParaRPr lang="en-US" dirty="0"/>
          </a:p>
        </p:txBody>
      </p:sp>
      <p:sp>
        <p:nvSpPr>
          <p:cNvPr id="3" name="Content Placeholder 2"/>
          <p:cNvSpPr>
            <a:spLocks noGrp="1"/>
          </p:cNvSpPr>
          <p:nvPr>
            <p:ph idx="1"/>
          </p:nvPr>
        </p:nvSpPr>
        <p:spPr/>
        <p:txBody>
          <a:bodyPr/>
          <a:lstStyle/>
          <a:p>
            <a:r>
              <a:rPr lang="en-US" dirty="0" smtClean="0"/>
              <a:t>Scope of methodology can be characterized along three axes :</a:t>
            </a:r>
          </a:p>
          <a:p>
            <a:r>
              <a:rPr lang="en-US" dirty="0" smtClean="0"/>
              <a:t>Life cycle coverage</a:t>
            </a:r>
          </a:p>
          <a:p>
            <a:r>
              <a:rPr lang="en-US" dirty="0" smtClean="0"/>
              <a:t>Role coverage</a:t>
            </a:r>
          </a:p>
          <a:p>
            <a:r>
              <a:rPr lang="en-US" dirty="0" smtClean="0"/>
              <a:t>Activity coverage</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 cycle coverage</a:t>
            </a:r>
            <a:endParaRPr lang="en-US" dirty="0"/>
          </a:p>
        </p:txBody>
      </p:sp>
      <p:sp>
        <p:nvSpPr>
          <p:cNvPr id="3" name="Content Placeholder 2"/>
          <p:cNvSpPr>
            <a:spLocks noGrp="1"/>
          </p:cNvSpPr>
          <p:nvPr>
            <p:ph idx="1"/>
          </p:nvPr>
        </p:nvSpPr>
        <p:spPr/>
        <p:txBody>
          <a:bodyPr/>
          <a:lstStyle/>
          <a:p>
            <a:r>
              <a:rPr lang="en-US" i="1" u="sng" dirty="0" smtClean="0"/>
              <a:t>Life cycle coverage</a:t>
            </a:r>
            <a:r>
              <a:rPr lang="en-US" dirty="0" smtClean="0"/>
              <a:t> indicates when in the lifecycle of the project the methodology comes into play and when it ends</a:t>
            </a:r>
          </a:p>
          <a:p>
            <a:r>
              <a:rPr lang="en-US" i="1" u="sng" dirty="0" smtClean="0"/>
              <a:t>Role Coverage </a:t>
            </a:r>
            <a:r>
              <a:rPr lang="en-US" dirty="0" smtClean="0"/>
              <a:t>refers to which roles fall into the domain of discussion</a:t>
            </a:r>
          </a:p>
          <a:p>
            <a:r>
              <a:rPr lang="en-US" i="1" u="sng" dirty="0" smtClean="0"/>
              <a:t>Activity Coverage </a:t>
            </a:r>
            <a:r>
              <a:rPr lang="en-US" dirty="0" smtClean="0"/>
              <a:t>defines which activities of those roles fall into the domain of discussion</a:t>
            </a:r>
            <a:endParaRPr lang="en-US" i="1" u="sng" dirty="0" smtClean="0"/>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CONCEPTUAL TERMS</a:t>
            </a:r>
            <a:br>
              <a:rPr lang="en-US" dirty="0" smtClean="0"/>
            </a:br>
            <a:endParaRPr lang="en-US" dirty="0"/>
          </a:p>
        </p:txBody>
      </p:sp>
      <p:sp>
        <p:nvSpPr>
          <p:cNvPr id="3" name="Content Placeholder 2"/>
          <p:cNvSpPr>
            <a:spLocks noGrp="1"/>
          </p:cNvSpPr>
          <p:nvPr>
            <p:ph idx="1"/>
          </p:nvPr>
        </p:nvSpPr>
        <p:spPr/>
        <p:txBody>
          <a:bodyPr/>
          <a:lstStyle/>
          <a:p>
            <a:pPr>
              <a:buNone/>
            </a:pPr>
            <a:r>
              <a:rPr lang="en-US" dirty="0" smtClean="0"/>
              <a:t>To Design a Methodology we have to analyse the following :</a:t>
            </a:r>
          </a:p>
          <a:p>
            <a:pPr marL="514350" indent="-514350">
              <a:buAutoNum type="arabicPeriod"/>
            </a:pPr>
            <a:r>
              <a:rPr lang="en-US" b="1" dirty="0" smtClean="0">
                <a:solidFill>
                  <a:schemeClr val="accent2"/>
                </a:solidFill>
              </a:rPr>
              <a:t>Methodology size </a:t>
            </a:r>
            <a:r>
              <a:rPr lang="en-US" dirty="0" smtClean="0"/>
              <a:t>: Number of control elements in the methodology.</a:t>
            </a:r>
          </a:p>
          <a:p>
            <a:pPr marL="514350" indent="-514350">
              <a:buNone/>
            </a:pPr>
            <a:r>
              <a:rPr lang="en-US" dirty="0" smtClean="0"/>
              <a:t>    Each deliverable, quality measure, activity and technique description are the control elements</a:t>
            </a:r>
          </a:p>
          <a:p>
            <a:pPr marL="514350" indent="-514350">
              <a:buNone/>
            </a:pP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b="1" dirty="0" smtClean="0">
                <a:solidFill>
                  <a:schemeClr val="accent2"/>
                </a:solidFill>
              </a:rPr>
              <a:t>2. Ceremony</a:t>
            </a:r>
          </a:p>
          <a:p>
            <a:pPr>
              <a:buNone/>
            </a:pPr>
            <a:r>
              <a:rPr lang="en-US" dirty="0" smtClean="0"/>
              <a:t>Amount of precision and the tightness of tolerance in the methodology. Greater ceremony corresponds to tighter controls.</a:t>
            </a:r>
          </a:p>
          <a:p>
            <a:pPr>
              <a:buNone/>
            </a:pPr>
            <a:r>
              <a:rPr lang="en-US" dirty="0" smtClean="0"/>
              <a:t>One team may write use cases on napkins and review them over lunch. Another team may prefer to fill in a three page template and hold half-day reviews. Both groups write and review use cases, the former using low ceremony and latter using high ceremony</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solidFill>
                  <a:schemeClr val="accent2"/>
                </a:solidFill>
              </a:rPr>
              <a:t>3. Methodology weight</a:t>
            </a:r>
            <a:r>
              <a:rPr lang="en-US" dirty="0" smtClean="0"/>
              <a:t>=size X ceremony</a:t>
            </a:r>
          </a:p>
          <a:p>
            <a:pPr>
              <a:buNone/>
            </a:pPr>
            <a:r>
              <a:rPr lang="en-US" b="1" dirty="0" smtClean="0">
                <a:solidFill>
                  <a:schemeClr val="accent2"/>
                </a:solidFill>
              </a:rPr>
              <a:t>4. Problem size </a:t>
            </a:r>
            <a:r>
              <a:rPr lang="en-US" dirty="0" smtClean="0"/>
              <a:t>: Number of elements in the problem and their inherent cross-complexity.</a:t>
            </a:r>
          </a:p>
          <a:p>
            <a:r>
              <a:rPr lang="en-US" dirty="0" smtClean="0"/>
              <a:t>ex,. Launching a space shuttle is a bigger problem than printing a company’s invoice</a:t>
            </a:r>
          </a:p>
          <a:p>
            <a:r>
              <a:rPr lang="en-US" dirty="0" smtClean="0"/>
              <a:t>Difficulty in deciding problem size is that there will be controversy over how many people are needed to deliver the product.</a:t>
            </a:r>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r>
              <a:rPr lang="en-US" b="1" dirty="0" smtClean="0">
                <a:solidFill>
                  <a:schemeClr val="accent2"/>
                </a:solidFill>
              </a:rPr>
              <a:t>5 Project Size</a:t>
            </a:r>
          </a:p>
          <a:p>
            <a:r>
              <a:rPr lang="en-US" dirty="0" smtClean="0"/>
              <a:t>Number of people whose efforts need to be coordinated: staff size</a:t>
            </a:r>
          </a:p>
          <a:p>
            <a:r>
              <a:rPr lang="en-US" dirty="0" smtClean="0"/>
              <a:t>Depending on situation, we may coordinate only programmers or entire department with many roles</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b="1" dirty="0" smtClean="0">
                <a:solidFill>
                  <a:schemeClr val="accent2"/>
                </a:solidFill>
              </a:rPr>
              <a:t>6. System Criticality</a:t>
            </a:r>
          </a:p>
          <a:p>
            <a:r>
              <a:rPr lang="en-US" dirty="0" smtClean="0"/>
              <a:t>The damage from undetected defects.</a:t>
            </a:r>
          </a:p>
          <a:p>
            <a:r>
              <a:rPr lang="en-US" dirty="0" smtClean="0"/>
              <a:t>Criticality can be classified based on loss of irreplaceable money or loss of life, loss of comfort.</a:t>
            </a:r>
          </a:p>
          <a:p>
            <a:pPr>
              <a:buNone/>
            </a:pPr>
            <a:r>
              <a:rPr lang="en-US" b="1" dirty="0" smtClean="0">
                <a:solidFill>
                  <a:schemeClr val="accent2"/>
                </a:solidFill>
              </a:rPr>
              <a:t>7. Precision</a:t>
            </a:r>
          </a:p>
          <a:p>
            <a:r>
              <a:rPr lang="en-US" dirty="0" smtClean="0"/>
              <a:t>Pi value=3.1   or to four decimal places,3.1416</a:t>
            </a:r>
          </a:p>
          <a:p>
            <a:r>
              <a:rPr lang="en-US" dirty="0" smtClean="0"/>
              <a:t>Source code contains more precision than a class diagram; assembler code contains more than its high level source code</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b="1" dirty="0" smtClean="0">
                <a:solidFill>
                  <a:schemeClr val="accent2"/>
                </a:solidFill>
              </a:rPr>
              <a:t>8. Accuracy</a:t>
            </a:r>
          </a:p>
          <a:p>
            <a:r>
              <a:rPr lang="en-US" dirty="0" smtClean="0"/>
              <a:t>The final object model needs to be more accurate than the initial one.</a:t>
            </a:r>
          </a:p>
          <a:p>
            <a:r>
              <a:rPr lang="en-US" dirty="0" smtClean="0"/>
              <a:t>The final GUI presentation is more accurate than the low-fidelity prototype.</a:t>
            </a:r>
          </a:p>
          <a:p>
            <a:pPr>
              <a:buNone/>
            </a:pPr>
            <a:r>
              <a:rPr lang="en-US" b="1" dirty="0" smtClean="0">
                <a:solidFill>
                  <a:schemeClr val="accent2"/>
                </a:solidFill>
              </a:rPr>
              <a:t>9. Relevance</a:t>
            </a:r>
          </a:p>
          <a:p>
            <a:r>
              <a:rPr lang="en-US" dirty="0" smtClean="0"/>
              <a:t>User Interface prototypes do not discuss the domain model</a:t>
            </a:r>
          </a:p>
          <a:p>
            <a:r>
              <a:rPr lang="en-US" dirty="0" smtClean="0"/>
              <a:t>Infrastructure design is not relevant to collecting user functional requirements.</a:t>
            </a:r>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solidFill>
                  <a:schemeClr val="accent2"/>
                </a:solidFill>
              </a:rPr>
              <a:t>10. Tolerance</a:t>
            </a:r>
          </a:p>
          <a:p>
            <a:r>
              <a:rPr lang="en-US" dirty="0" smtClean="0"/>
              <a:t>How much variation is permitted.</a:t>
            </a:r>
          </a:p>
          <a:p>
            <a:r>
              <a:rPr lang="en-US" dirty="0" smtClean="0"/>
              <a:t>The team standards may require revision dates to be put into the program code-or not.</a:t>
            </a:r>
          </a:p>
          <a:p>
            <a:pPr>
              <a:buNone/>
            </a:pPr>
            <a:r>
              <a:rPr lang="en-US" b="1" dirty="0" smtClean="0">
                <a:solidFill>
                  <a:schemeClr val="accent2"/>
                </a:solidFill>
              </a:rPr>
              <a:t>11. Visibility. </a:t>
            </a:r>
          </a:p>
          <a:p>
            <a:r>
              <a:rPr lang="en-US" dirty="0" smtClean="0"/>
              <a:t>How easily an outsider can tell if the methodology is being followed.</a:t>
            </a:r>
          </a:p>
          <a:p>
            <a:r>
              <a:rPr lang="en-US" dirty="0" smtClean="0"/>
              <a:t>Ex. ISO 9001 focus on visibility issues</a:t>
            </a: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b="1" dirty="0" smtClean="0">
                <a:solidFill>
                  <a:schemeClr val="accent2"/>
                </a:solidFill>
              </a:rPr>
              <a:t>12. Scale</a:t>
            </a:r>
          </a:p>
          <a:p>
            <a:r>
              <a:rPr lang="en-US" dirty="0" smtClean="0"/>
              <a:t>How many items are rolled together to be presented as a single item.</a:t>
            </a:r>
          </a:p>
          <a:p>
            <a:r>
              <a:rPr lang="en-US" dirty="0" smtClean="0"/>
              <a:t>The UML “package” allows for scaled views of use cases, classes or hardware boxes.</a:t>
            </a:r>
          </a:p>
          <a:p>
            <a:r>
              <a:rPr lang="en-US" dirty="0" smtClean="0"/>
              <a:t>The printer or monitor’s dot density limits the amount of detail that can be put onto one screen or page. Even if it can be put up in one page, some people would not want to see all that detail. They want  to see a rolled-up or high level version.</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solidFill>
                  <a:schemeClr val="accent2"/>
                </a:solidFill>
              </a:rPr>
              <a:t>13. Stability</a:t>
            </a:r>
          </a:p>
          <a:p>
            <a:r>
              <a:rPr lang="en-US" dirty="0" smtClean="0"/>
              <a:t>Wildly fluctuating-when a team is just getting started</a:t>
            </a:r>
          </a:p>
          <a:p>
            <a:r>
              <a:rPr lang="en-US" dirty="0" smtClean="0"/>
              <a:t>Varying-when some development activity is in mid-stride</a:t>
            </a:r>
          </a:p>
          <a:p>
            <a:r>
              <a:rPr lang="en-US" dirty="0" smtClean="0"/>
              <a:t>Relatively stable-as just before a requirements/design/code review or product shipment</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Serial development &amp; concurrent development</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252413" y="1719263"/>
            <a:ext cx="8639175" cy="42243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381001" y="1752600"/>
            <a:ext cx="8305800" cy="457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0" y="381000"/>
            <a:ext cx="9144000" cy="5791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Serial development</a:t>
            </a:r>
            <a:endParaRPr lang="en-US" dirty="0"/>
          </a:p>
        </p:txBody>
      </p:sp>
      <p:sp>
        <p:nvSpPr>
          <p:cNvPr id="3" name="Content Placeholder 2"/>
          <p:cNvSpPr>
            <a:spLocks noGrp="1"/>
          </p:cNvSpPr>
          <p:nvPr>
            <p:ph idx="1"/>
          </p:nvPr>
        </p:nvSpPr>
        <p:spPr/>
        <p:txBody>
          <a:bodyPr>
            <a:normAutofit/>
          </a:bodyPr>
          <a:lstStyle/>
          <a:p>
            <a:r>
              <a:rPr lang="en-US" dirty="0" smtClean="0"/>
              <a:t>The simplest approach is to say, "Don't start</a:t>
            </a:r>
          </a:p>
          <a:p>
            <a:pPr>
              <a:buNone/>
            </a:pPr>
            <a:r>
              <a:rPr lang="en-US" dirty="0" smtClean="0"/>
              <a:t>    designing until the requirements are Stable (with a capital 'S'); don't start programming until the design is Stable,” and so on. This is serial development. Its two advantages make it attractive to many people.</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1828800" y="228600"/>
            <a:ext cx="5791200" cy="3886200"/>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1828800" y="4067175"/>
            <a:ext cx="5791200" cy="27908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ChangeAspect="1" noChangeArrowheads="1"/>
          </p:cNvPicPr>
          <p:nvPr/>
        </p:nvPicPr>
        <p:blipFill>
          <a:blip r:embed="rId2" cstate="print"/>
          <a:srcRect/>
          <a:stretch>
            <a:fillRect/>
          </a:stretch>
        </p:blipFill>
        <p:spPr bwMode="auto">
          <a:xfrm>
            <a:off x="609600" y="2033588"/>
            <a:ext cx="7467599" cy="37576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lgn="ctr">
              <a:buNone/>
            </a:pPr>
            <a:r>
              <a:rPr lang="en-US" b="1" dirty="0" smtClean="0">
                <a:solidFill>
                  <a:srgbClr val="7030A0"/>
                </a:solidFill>
              </a:rPr>
              <a:t>SEVEN PRINCIPLES WHICH ARE USEFUL IN DESIGNING AND EVALUATING METHODOLOGIES</a:t>
            </a:r>
            <a:endParaRPr lang="en-US" b="1" dirty="0">
              <a:solidFill>
                <a:srgbClr val="7030A0"/>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Seven principles useful in designing and evaluating methodologies</a:t>
            </a:r>
            <a:endParaRPr lang="en-US" dirty="0"/>
          </a:p>
        </p:txBody>
      </p:sp>
      <p:pic>
        <p:nvPicPr>
          <p:cNvPr id="7170" name="Picture 2"/>
          <p:cNvPicPr>
            <a:picLocks noChangeAspect="1" noChangeArrowheads="1"/>
          </p:cNvPicPr>
          <p:nvPr/>
        </p:nvPicPr>
        <p:blipFill>
          <a:blip r:embed="rId2" cstate="print"/>
          <a:srcRect/>
          <a:stretch>
            <a:fillRect/>
          </a:stretch>
        </p:blipFill>
        <p:spPr bwMode="auto">
          <a:xfrm>
            <a:off x="914400" y="1381124"/>
            <a:ext cx="7467599" cy="4943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t>Principle 1 : Interactive, face-to-face communication is the cheapest and fastest channel for exchanging information</a:t>
            </a:r>
            <a:endParaRPr lang="en-US" sz="2400" dirty="0"/>
          </a:p>
        </p:txBody>
      </p:sp>
      <p:sp>
        <p:nvSpPr>
          <p:cNvPr id="3" name="Content Placeholder 2"/>
          <p:cNvSpPr>
            <a:spLocks noGrp="1"/>
          </p:cNvSpPr>
          <p:nvPr>
            <p:ph idx="1"/>
          </p:nvPr>
        </p:nvSpPr>
        <p:spPr>
          <a:xfrm>
            <a:off x="457200" y="1600201"/>
            <a:ext cx="8229600" cy="1600199"/>
          </a:xfrm>
        </p:spPr>
        <p:txBody>
          <a:bodyPr>
            <a:normAutofit fontScale="85000" lnSpcReduction="10000"/>
          </a:bodyPr>
          <a:lstStyle/>
          <a:p>
            <a:r>
              <a:rPr lang="en-US" dirty="0" smtClean="0"/>
              <a:t>Discussed in last chapter (warm &amp; cool communication)</a:t>
            </a:r>
          </a:p>
          <a:p>
            <a:r>
              <a:rPr lang="en-US" dirty="0" smtClean="0"/>
              <a:t>Reduce cost of detecting and transferring information</a:t>
            </a:r>
          </a:p>
          <a:p>
            <a:endParaRPr lang="en-US" dirty="0" smtClean="0"/>
          </a:p>
          <a:p>
            <a:pPr>
              <a:buNone/>
            </a:pPr>
            <a:endParaRPr lang="en-US" dirty="0"/>
          </a:p>
        </p:txBody>
      </p:sp>
      <p:pic>
        <p:nvPicPr>
          <p:cNvPr id="1026" name="Picture 2" descr="Image result for communication channels effectiveness"/>
          <p:cNvPicPr>
            <a:picLocks noChangeAspect="1" noChangeArrowheads="1"/>
          </p:cNvPicPr>
          <p:nvPr/>
        </p:nvPicPr>
        <p:blipFill>
          <a:blip r:embed="rId2" cstate="print"/>
          <a:srcRect/>
          <a:stretch>
            <a:fillRect/>
          </a:stretch>
        </p:blipFill>
        <p:spPr bwMode="auto">
          <a:xfrm>
            <a:off x="1981200" y="3562349"/>
            <a:ext cx="4762500" cy="3295651"/>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525963"/>
          </a:xfrm>
        </p:spPr>
        <p:txBody>
          <a:bodyPr>
            <a:normAutofit fontScale="92500" lnSpcReduction="20000"/>
          </a:bodyPr>
          <a:lstStyle/>
          <a:p>
            <a:r>
              <a:rPr lang="en-US" dirty="0" smtClean="0"/>
              <a:t>Imagine six people working in a room with osmotic communication, drawing on the printing whiteboard.</a:t>
            </a:r>
          </a:p>
          <a:p>
            <a:pPr marL="0" indent="0">
              <a:buNone/>
            </a:pPr>
            <a:r>
              <a:rPr lang="en-US" smtClean="0">
                <a:solidFill>
                  <a:schemeClr val="tx2"/>
                </a:solidFill>
              </a:rPr>
              <a:t>    {The </a:t>
            </a:r>
            <a:r>
              <a:rPr lang="en-US" dirty="0">
                <a:solidFill>
                  <a:schemeClr val="tx2"/>
                </a:solidFill>
              </a:rPr>
              <a:t>reduction in cost when people discover; information in background </a:t>
            </a:r>
            <a:r>
              <a:rPr lang="en-US">
                <a:solidFill>
                  <a:schemeClr val="tx2"/>
                </a:solidFill>
              </a:rPr>
              <a:t>sounds(osmotic </a:t>
            </a:r>
            <a:r>
              <a:rPr lang="en-US" smtClean="0">
                <a:solidFill>
                  <a:schemeClr val="tx2"/>
                </a:solidFill>
              </a:rPr>
              <a:t>communication}</a:t>
            </a:r>
            <a:endParaRPr lang="en-US" dirty="0">
              <a:solidFill>
                <a:schemeClr val="tx2"/>
              </a:solidFill>
            </a:endParaRPr>
          </a:p>
          <a:p>
            <a:pPr marL="0" indent="0">
              <a:buNone/>
            </a:pPr>
            <a:endParaRPr lang="en-US" dirty="0" smtClean="0"/>
          </a:p>
          <a:p>
            <a:r>
              <a:rPr lang="en-US" dirty="0" smtClean="0"/>
              <a:t>Their communication is efficient</a:t>
            </a:r>
          </a:p>
          <a:p>
            <a:r>
              <a:rPr lang="en-US" dirty="0" smtClean="0"/>
              <a:t>Most of their time is spent developing software and usage manual</a:t>
            </a:r>
            <a:endParaRPr lang="en-US" dirty="0"/>
          </a:p>
        </p:txBody>
      </p:sp>
      <p:sp>
        <p:nvSpPr>
          <p:cNvPr id="4" name="Title 1"/>
          <p:cNvSpPr>
            <a:spLocks noGrp="1"/>
          </p:cNvSpPr>
          <p:nvPr>
            <p:ph type="title"/>
          </p:nvPr>
        </p:nvSpPr>
        <p:spPr>
          <a:xfrm>
            <a:off x="457200" y="274638"/>
            <a:ext cx="8229600" cy="868362"/>
          </a:xfrm>
        </p:spPr>
        <p:txBody>
          <a:bodyPr>
            <a:normAutofit/>
          </a:bodyPr>
          <a:lstStyle/>
          <a:p>
            <a:r>
              <a:rPr lang="en-US" sz="2400" dirty="0" smtClean="0"/>
              <a:t>Principle 2 : Excess methodology weight is costly</a:t>
            </a:r>
            <a:endParaRPr lang="en-US" sz="24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Principle 2  </a:t>
            </a:r>
            <a:r>
              <a:rPr lang="en-US" dirty="0" err="1" smtClean="0"/>
              <a:t>Contd</a:t>
            </a:r>
            <a:r>
              <a:rPr lang="en-US" dirty="0" smtClean="0"/>
              <a:t>…</a:t>
            </a:r>
            <a:endParaRPr lang="en-US" dirty="0"/>
          </a:p>
        </p:txBody>
      </p:sp>
      <p:sp>
        <p:nvSpPr>
          <p:cNvPr id="3" name="Content Placeholder 2"/>
          <p:cNvSpPr>
            <a:spLocks noGrp="1"/>
          </p:cNvSpPr>
          <p:nvPr>
            <p:ph idx="1"/>
          </p:nvPr>
        </p:nvSpPr>
        <p:spPr/>
        <p:txBody>
          <a:bodyPr/>
          <a:lstStyle/>
          <a:p>
            <a:r>
              <a:rPr lang="en-US" dirty="0" smtClean="0"/>
              <a:t>Now ask them to maintain additional work products like GANTT charts, requirements documents, design documents and test plans</a:t>
            </a:r>
          </a:p>
          <a:p>
            <a:r>
              <a:rPr lang="en-US" dirty="0" smtClean="0"/>
              <a:t>They are not truly needed by the team for development. </a:t>
            </a:r>
          </a:p>
          <a:p>
            <a:r>
              <a:rPr lang="en-US" dirty="0" smtClean="0"/>
              <a:t>They take time away from development</a:t>
            </a:r>
          </a:p>
          <a:p>
            <a:r>
              <a:rPr lang="en-US" dirty="0" smtClean="0"/>
              <a:t>Now productivity decreases</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8229600" cy="2590800"/>
          </a:xfrm>
        </p:spPr>
        <p:txBody>
          <a:bodyPr>
            <a:normAutofit lnSpcReduction="10000"/>
          </a:bodyPr>
          <a:lstStyle/>
          <a:p>
            <a:r>
              <a:rPr lang="en-US" dirty="0" smtClean="0"/>
              <a:t>When you add more work, for the team, it pulls them away from their development work</a:t>
            </a:r>
          </a:p>
          <a:p>
            <a:r>
              <a:rPr lang="en-US" dirty="0" smtClean="0"/>
              <a:t>In other words, a small team can succeed with a larger problem by using a lighter methodology</a:t>
            </a:r>
          </a:p>
          <a:p>
            <a:pPr>
              <a:buNone/>
            </a:pP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762000" y="2819400"/>
            <a:ext cx="7772400" cy="3781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Designers are unable to get the necessary quiet time to do their work because of the burden of paperwork and the high rate of distractions</a:t>
            </a:r>
          </a:p>
          <a:p>
            <a:r>
              <a:rPr lang="en-US" dirty="0" smtClean="0"/>
              <a:t>Adding a “small” amount of burden to a project adds a large cost</a:t>
            </a:r>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Principle 3 : Larger teams need heavier methodologies</a:t>
            </a:r>
            <a:endParaRPr lang="en-US" dirty="0"/>
          </a:p>
        </p:txBody>
      </p:sp>
      <p:sp>
        <p:nvSpPr>
          <p:cNvPr id="3" name="Content Placeholder 2"/>
          <p:cNvSpPr>
            <a:spLocks noGrp="1"/>
          </p:cNvSpPr>
          <p:nvPr>
            <p:ph idx="1"/>
          </p:nvPr>
        </p:nvSpPr>
        <p:spPr/>
        <p:txBody>
          <a:bodyPr/>
          <a:lstStyle/>
          <a:p>
            <a:r>
              <a:rPr lang="en-US" dirty="0" smtClean="0"/>
              <a:t>If team size is larger, it is difficult to find out what are they doing </a:t>
            </a:r>
          </a:p>
          <a:p>
            <a:r>
              <a:rPr lang="en-US" dirty="0" smtClean="0"/>
              <a:t>As team size increases, coordination and communication is very important</a:t>
            </a:r>
          </a:p>
          <a:p>
            <a:r>
              <a:rPr lang="en-US" dirty="0" smtClean="0"/>
              <a:t>Figure shows the effect of adding methodology to a large team</a:t>
            </a:r>
          </a:p>
          <a:p>
            <a:r>
              <a:rPr lang="en-US" dirty="0" smtClean="0"/>
              <a:t>With very light methodologies, they work without coordination</a:t>
            </a: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685800" y="304800"/>
            <a:ext cx="8001000" cy="609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a:buNone/>
            </a:pPr>
            <a:r>
              <a:rPr lang="en-US" dirty="0" smtClean="0"/>
              <a:t>As they start to coordinate their work, they become more effective.</a:t>
            </a:r>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06562"/>
          </a:xfrm>
        </p:spPr>
        <p:txBody>
          <a:bodyPr>
            <a:normAutofit fontScale="90000"/>
          </a:bodyPr>
          <a:lstStyle/>
          <a:p>
            <a:r>
              <a:rPr lang="en-US" dirty="0" smtClean="0"/>
              <a:t>Principle 4 : Greater ceremony is appropriate for projects with greater criticality</a:t>
            </a:r>
            <a:endParaRPr lang="en-US" dirty="0"/>
          </a:p>
        </p:txBody>
      </p:sp>
      <p:sp>
        <p:nvSpPr>
          <p:cNvPr id="3" name="Content Placeholder 2"/>
          <p:cNvSpPr>
            <a:spLocks noGrp="1"/>
          </p:cNvSpPr>
          <p:nvPr>
            <p:ph idx="1"/>
          </p:nvPr>
        </p:nvSpPr>
        <p:spPr>
          <a:xfrm>
            <a:off x="533400" y="2133600"/>
            <a:ext cx="8229600" cy="4525963"/>
          </a:xfrm>
        </p:spPr>
        <p:txBody>
          <a:bodyPr/>
          <a:lstStyle/>
          <a:p>
            <a:r>
              <a:rPr lang="en-US" dirty="0" smtClean="0"/>
              <a:t>It addresses the amount of ceremony that should be used on a project</a:t>
            </a:r>
          </a:p>
          <a:p>
            <a:r>
              <a:rPr lang="en-US" dirty="0" smtClean="0"/>
              <a:t>More ceremony means tighter controls and less tolerance</a:t>
            </a:r>
          </a:p>
          <a:p>
            <a:r>
              <a:rPr lang="en-US" dirty="0" smtClean="0"/>
              <a:t>Refer to previous ceremony examples.</a:t>
            </a:r>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58962"/>
          </a:xfrm>
        </p:spPr>
        <p:txBody>
          <a:bodyPr>
            <a:normAutofit fontScale="90000"/>
          </a:bodyPr>
          <a:lstStyle/>
          <a:p>
            <a:r>
              <a:rPr lang="en-US" dirty="0" smtClean="0"/>
              <a:t>Principle 5 : Increasing feedback and communication reduces the need for intermediate deliverables</a:t>
            </a:r>
            <a:endParaRPr lang="en-US" dirty="0"/>
          </a:p>
        </p:txBody>
      </p:sp>
      <p:sp>
        <p:nvSpPr>
          <p:cNvPr id="3" name="Content Placeholder 2"/>
          <p:cNvSpPr>
            <a:spLocks noGrp="1"/>
          </p:cNvSpPr>
          <p:nvPr>
            <p:ph idx="1"/>
          </p:nvPr>
        </p:nvSpPr>
        <p:spPr>
          <a:xfrm>
            <a:off x="457200" y="2438400"/>
            <a:ext cx="8229600" cy="3687763"/>
          </a:xfrm>
        </p:spPr>
        <p:txBody>
          <a:bodyPr/>
          <a:lstStyle/>
          <a:p>
            <a:r>
              <a:rPr lang="en-US" dirty="0" smtClean="0"/>
              <a:t>An intermediate deliverable may be detailed project plan, analysis &amp; design document, test plan, risk list and so on</a:t>
            </a:r>
          </a:p>
          <a:p>
            <a:r>
              <a:rPr lang="en-US" dirty="0" smtClean="0"/>
              <a:t>Deliver the working piece of the system quickly enough that the sponsor can tell whether the team understood the requirements properly</a:t>
            </a:r>
          </a:p>
          <a:p>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Reduce the team size, putting everyone close enough together that they can simply tell each other what they are doing instead of writing internal documents to each other</a:t>
            </a: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06562"/>
          </a:xfrm>
        </p:spPr>
        <p:txBody>
          <a:bodyPr>
            <a:normAutofit fontScale="90000"/>
          </a:bodyPr>
          <a:lstStyle/>
          <a:p>
            <a:r>
              <a:rPr lang="en-US" dirty="0" smtClean="0"/>
              <a:t>Principle 6 : Discipline, skills and understanding counter process, formality and documentation</a:t>
            </a:r>
            <a:endParaRPr lang="en-US" dirty="0"/>
          </a:p>
        </p:txBody>
      </p:sp>
      <p:sp>
        <p:nvSpPr>
          <p:cNvPr id="3" name="Content Placeholder 2"/>
          <p:cNvSpPr>
            <a:spLocks noGrp="1"/>
          </p:cNvSpPr>
          <p:nvPr>
            <p:ph idx="1"/>
          </p:nvPr>
        </p:nvSpPr>
        <p:spPr>
          <a:xfrm>
            <a:off x="457200" y="2590800"/>
            <a:ext cx="8229600" cy="3535363"/>
          </a:xfrm>
        </p:spPr>
        <p:txBody>
          <a:bodyPr/>
          <a:lstStyle/>
          <a:p>
            <a:r>
              <a:rPr lang="en-US" dirty="0" smtClean="0"/>
              <a:t>Process is not discipline</a:t>
            </a:r>
          </a:p>
          <a:p>
            <a:r>
              <a:rPr lang="en-US" dirty="0" smtClean="0"/>
              <a:t>Discipline involves a person choosing to work in a way that requires consistency</a:t>
            </a:r>
          </a:p>
          <a:p>
            <a:r>
              <a:rPr lang="en-US" dirty="0" smtClean="0"/>
              <a:t>Process involves a person following instructions</a:t>
            </a:r>
          </a:p>
          <a:p>
            <a:r>
              <a:rPr lang="en-US" dirty="0" smtClean="0"/>
              <a:t>Of the two, discipline is more powerful</a:t>
            </a:r>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 person who is choosing to act with consistency and care will have a far better effect on the project than a person who is just following instructions</a:t>
            </a:r>
          </a:p>
          <a:p>
            <a:r>
              <a:rPr lang="en-US" dirty="0" smtClean="0"/>
              <a:t>Don’t confuse formality with skill</a:t>
            </a:r>
          </a:p>
          <a:p>
            <a:r>
              <a:rPr lang="en-US" dirty="0" err="1" smtClean="0"/>
              <a:t>Eg</a:t>
            </a:r>
            <a:r>
              <a:rPr lang="en-US" dirty="0" smtClean="0"/>
              <a:t>. Routine form filling work in a system</a:t>
            </a:r>
          </a:p>
          <a:p>
            <a:pPr>
              <a:buNone/>
            </a:pPr>
            <a:r>
              <a:rPr lang="en-US" dirty="0" smtClean="0"/>
              <a:t>   compared with OO design</a:t>
            </a: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Principle 7 : Efficiency is expendable in </a:t>
            </a:r>
            <a:r>
              <a:rPr lang="en-US" dirty="0" err="1" smtClean="0"/>
              <a:t>nonbottleneck</a:t>
            </a:r>
            <a:r>
              <a:rPr lang="en-US" dirty="0" smtClean="0"/>
              <a:t> </a:t>
            </a:r>
            <a:r>
              <a:rPr lang="en-US" dirty="0" err="1" smtClean="0"/>
              <a:t>actvities</a:t>
            </a:r>
            <a:endParaRPr lang="en-US" dirty="0"/>
          </a:p>
        </p:txBody>
      </p:sp>
      <p:sp>
        <p:nvSpPr>
          <p:cNvPr id="3" name="Content Placeholder 2"/>
          <p:cNvSpPr>
            <a:spLocks noGrp="1"/>
          </p:cNvSpPr>
          <p:nvPr>
            <p:ph idx="1"/>
          </p:nvPr>
        </p:nvSpPr>
        <p:spPr/>
        <p:txBody>
          <a:bodyPr>
            <a:normAutofit/>
          </a:bodyPr>
          <a:lstStyle/>
          <a:p>
            <a:r>
              <a:rPr lang="en-US" dirty="0" smtClean="0"/>
              <a:t>This principle, provides guidance in applying concurrent development</a:t>
            </a:r>
          </a:p>
          <a:p>
            <a:r>
              <a:rPr lang="en-US" dirty="0" smtClean="0"/>
              <a:t>People on a bottleneck activity need to work efficiently as possible and cannot afford to do much rework. </a:t>
            </a:r>
          </a:p>
          <a:p>
            <a:r>
              <a:rPr lang="en-US" dirty="0" smtClean="0"/>
              <a:t>Principle 7 has three consequences</a:t>
            </a:r>
          </a:p>
          <a:p>
            <a:endParaRPr lang="en-US" dirty="0" smtClean="0"/>
          </a:p>
          <a:p>
            <a:r>
              <a:rPr lang="en-US" sz="2000" dirty="0" smtClean="0"/>
              <a:t>Expendable (meaning): destroyed </a:t>
            </a:r>
            <a:r>
              <a:rPr lang="en-US" sz="2000" dirty="0" err="1" smtClean="0"/>
              <a:t>bcos</a:t>
            </a:r>
            <a:r>
              <a:rPr lang="en-US" sz="2000" dirty="0" smtClean="0"/>
              <a:t> it is not significant</a:t>
            </a:r>
            <a:endParaRPr lang="en-US" sz="2000"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30362"/>
          </a:xfrm>
        </p:spPr>
        <p:txBody>
          <a:bodyPr>
            <a:normAutofit fontScale="90000"/>
          </a:bodyPr>
          <a:lstStyle/>
          <a:p>
            <a:r>
              <a:rPr lang="en-US" dirty="0" smtClean="0"/>
              <a:t/>
            </a:r>
            <a:br>
              <a:rPr lang="en-US" dirty="0" smtClean="0"/>
            </a:br>
            <a:r>
              <a:rPr lang="en-US" dirty="0" smtClean="0"/>
              <a:t>Consequence 1 : Do whatever you can to speed up the work at the bottleneck activity</a:t>
            </a:r>
            <a:endParaRPr lang="en-US" dirty="0"/>
          </a:p>
        </p:txBody>
      </p:sp>
      <p:sp>
        <p:nvSpPr>
          <p:cNvPr id="3" name="Content Placeholder 2"/>
          <p:cNvSpPr>
            <a:spLocks noGrp="1"/>
          </p:cNvSpPr>
          <p:nvPr>
            <p:ph idx="1"/>
          </p:nvPr>
        </p:nvSpPr>
        <p:spPr>
          <a:xfrm>
            <a:off x="457200" y="2438400"/>
            <a:ext cx="8229600" cy="3687763"/>
          </a:xfrm>
        </p:spPr>
        <p:txBody>
          <a:bodyPr>
            <a:normAutofit fontScale="92500" lnSpcReduction="20000"/>
          </a:bodyPr>
          <a:lstStyle/>
          <a:p>
            <a:r>
              <a:rPr lang="en-US" dirty="0" smtClean="0"/>
              <a:t>Every project has a bottleneck activity</a:t>
            </a:r>
          </a:p>
          <a:p>
            <a:pPr>
              <a:buNone/>
            </a:pPr>
            <a:r>
              <a:rPr lang="en-US" dirty="0" smtClean="0"/>
              <a:t>To handle this :</a:t>
            </a:r>
          </a:p>
          <a:p>
            <a:pPr marL="514350" indent="-514350">
              <a:buAutoNum type="arabicPeriod"/>
            </a:pPr>
            <a:r>
              <a:rPr lang="en-US" dirty="0" smtClean="0"/>
              <a:t>Get better people doing that work</a:t>
            </a:r>
          </a:p>
          <a:p>
            <a:pPr marL="514350" indent="-514350">
              <a:buAutoNum type="arabicPeriod"/>
            </a:pPr>
            <a:r>
              <a:rPr lang="en-US" dirty="0" smtClean="0"/>
              <a:t>Get more people to do that work</a:t>
            </a:r>
          </a:p>
          <a:p>
            <a:pPr marL="514350" indent="-514350">
              <a:buAutoNum type="arabicPeriod"/>
            </a:pPr>
            <a:r>
              <a:rPr lang="en-US" dirty="0" smtClean="0"/>
              <a:t>Get better tools for the people doing that work</a:t>
            </a:r>
          </a:p>
          <a:p>
            <a:pPr marL="514350" indent="-514350">
              <a:buAutoNum type="arabicPeriod"/>
            </a:pPr>
            <a:r>
              <a:rPr lang="en-US" dirty="0" smtClean="0"/>
              <a:t>Get the work that feeds that activity to a more complete and stable state before passing it along</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2514600"/>
          </a:xfrm>
        </p:spPr>
        <p:txBody>
          <a:bodyPr>
            <a:normAutofit fontScale="90000"/>
          </a:bodyPr>
          <a:lstStyle/>
          <a:p>
            <a:r>
              <a:rPr lang="en-US" dirty="0" smtClean="0"/>
              <a:t>Consequence 2: People at the non bottleneck activities can work inefficiently without affecting the overall speed of the project</a:t>
            </a:r>
            <a:endParaRPr lang="en-US" dirty="0"/>
          </a:p>
        </p:txBody>
      </p:sp>
      <p:sp>
        <p:nvSpPr>
          <p:cNvPr id="3" name="Content Placeholder 2"/>
          <p:cNvSpPr>
            <a:spLocks noGrp="1"/>
          </p:cNvSpPr>
          <p:nvPr>
            <p:ph idx="1"/>
          </p:nvPr>
        </p:nvSpPr>
        <p:spPr>
          <a:xfrm>
            <a:off x="457200" y="3429000"/>
            <a:ext cx="8229600" cy="2697163"/>
          </a:xfrm>
        </p:spPr>
        <p:txBody>
          <a:bodyPr/>
          <a:lstStyle/>
          <a:p>
            <a:r>
              <a:rPr lang="en-US" dirty="0" smtClean="0"/>
              <a:t>This is not obvious</a:t>
            </a:r>
          </a:p>
          <a:p>
            <a:r>
              <a:rPr lang="en-US" dirty="0" smtClean="0"/>
              <a:t>One way for People to work inefficiently is to take long smoking breaks, surfing web and spend time at water cooler</a:t>
            </a:r>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Nonbottleneck</a:t>
            </a:r>
            <a:r>
              <a:rPr lang="en-US" dirty="0" smtClean="0"/>
              <a:t> people can spend their extra capacity by starting earlier, getting results earlier, doing more rework, and doing it earlier and doing other work that helps the person a the bottleneck activity.</a:t>
            </a:r>
          </a:p>
          <a:p>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925762"/>
          </a:xfrm>
        </p:spPr>
        <p:txBody>
          <a:bodyPr>
            <a:normAutofit fontScale="90000"/>
          </a:bodyPr>
          <a:lstStyle/>
          <a:p>
            <a:r>
              <a:rPr lang="en-US" dirty="0" smtClean="0"/>
              <a:t>Consequence 3: Applying the principles of expendable efficiency yields different methodologies in different situations, even keeping the other principles in place</a:t>
            </a:r>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914400" y="457200"/>
            <a:ext cx="7086599" cy="28194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685800" y="3124200"/>
            <a:ext cx="7086600" cy="2971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457200"/>
            <a:ext cx="7848600" cy="6093976"/>
          </a:xfrm>
          <a:prstGeom prst="rect">
            <a:avLst/>
          </a:prstGeom>
        </p:spPr>
        <p:txBody>
          <a:bodyPr wrap="square">
            <a:spAutoFit/>
          </a:bodyPr>
          <a:lstStyle/>
          <a:p>
            <a:r>
              <a:rPr lang="en-US" sz="3000" dirty="0" smtClean="0"/>
              <a:t>When I interviewed one of the team leads, I asked, "What about all those other people? What did they do?“</a:t>
            </a:r>
          </a:p>
          <a:p>
            <a:endParaRPr lang="en-US" sz="3000" dirty="0" smtClean="0"/>
          </a:p>
          <a:p>
            <a:r>
              <a:rPr lang="en-US" sz="3000" dirty="0" smtClean="0"/>
              <a:t>The team lead answered, "We let them do whatever they wanted to. Some did nothing, some did small projects to improve their technical skills. It didn't matter, because they wouldn't help the project more by doing anything else.“</a:t>
            </a:r>
          </a:p>
          <a:p>
            <a:endParaRPr lang="en-US" sz="3000" dirty="0" smtClean="0"/>
          </a:p>
          <a:p>
            <a:r>
              <a:rPr lang="en-US" sz="3000" dirty="0" smtClean="0"/>
              <a:t>The restarted project did succeed. In fact, it became a heralded success at that company.</a:t>
            </a:r>
            <a:endParaRPr lang="en-US" sz="3000"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Consequences of the Principles</a:t>
            </a:r>
            <a:br>
              <a:rPr lang="en-US" dirty="0" smtClean="0"/>
            </a:br>
            <a:endParaRPr lang="en-US" dirty="0"/>
          </a:p>
        </p:txBody>
      </p:sp>
      <p:sp>
        <p:nvSpPr>
          <p:cNvPr id="3" name="Content Placeholder 2"/>
          <p:cNvSpPr>
            <a:spLocks noGrp="1"/>
          </p:cNvSpPr>
          <p:nvPr>
            <p:ph idx="1"/>
          </p:nvPr>
        </p:nvSpPr>
        <p:spPr/>
        <p:txBody>
          <a:bodyPr/>
          <a:lstStyle/>
          <a:p>
            <a:pPr>
              <a:buNone/>
            </a:pPr>
            <a:r>
              <a:rPr lang="en-US" dirty="0" smtClean="0"/>
              <a:t>Consequences of combining the principles</a:t>
            </a:r>
          </a:p>
          <a:p>
            <a:r>
              <a:rPr lang="en-US" dirty="0" smtClean="0">
                <a:solidFill>
                  <a:srgbClr val="FF0000"/>
                </a:solidFill>
              </a:rPr>
              <a:t>Consequence 1 : Adding people to a project is costly (Salaries)	</a:t>
            </a:r>
          </a:p>
          <a:p>
            <a:r>
              <a:rPr lang="en-US" dirty="0" smtClean="0">
                <a:solidFill>
                  <a:srgbClr val="FF0000"/>
                </a:solidFill>
              </a:rPr>
              <a:t>Consequence 2 : Team size increases in large jumps (Read the case study )</a:t>
            </a:r>
          </a:p>
          <a:p>
            <a:pPr>
              <a:buNone/>
            </a:pPr>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70000" lnSpcReduction="20000"/>
          </a:bodyPr>
          <a:lstStyle/>
          <a:p>
            <a:r>
              <a:rPr lang="en-US" dirty="0" smtClean="0"/>
              <a:t>SIX TO 24 PROGRAMMERS</a:t>
            </a:r>
          </a:p>
          <a:p>
            <a:r>
              <a:rPr lang="en-US" dirty="0" smtClean="0"/>
              <a:t>At the start of one fixed-priced project, we estimated that we could deliver the project with six good Smalltalk programmers. That wasn't an option, though. At that time, we couldn't get our hands on six good Smalltalk programmers. To make matters worse, we were given ten novices to train and only two expert programmers to both train them and create code.</a:t>
            </a:r>
          </a:p>
          <a:p>
            <a:r>
              <a:rPr lang="en-US" dirty="0" smtClean="0"/>
              <a:t>During our estimation process, we concluded we would need a staff of 24 programmers of mixed abilities.  Over the course of the project, we eventually had four experts and 20 other programmers  with mixed experience. We got our 24 programmers. </a:t>
            </a:r>
          </a:p>
          <a:p>
            <a:r>
              <a:rPr lang="en-US" dirty="0" smtClean="0"/>
              <a:t>We reviewed our assessment at several times during the project, and at the end. Yes, six good Smalltalk programmers would have been sufficient. No, 12 programmers, even 16 programmers of the mixed experience levels we were seeing would not have been</a:t>
            </a:r>
          </a:p>
          <a:p>
            <a:pPr>
              <a:buNone/>
            </a:pPr>
            <a:r>
              <a:rPr lang="en-US" dirty="0" smtClean="0"/>
              <a:t>      sufficient. The correct jump was from six good programmers to 24 programmers of mixed ability</a:t>
            </a:r>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lnSpcReduction="10000"/>
          </a:bodyPr>
          <a:lstStyle/>
          <a:p>
            <a:r>
              <a:rPr lang="en-US" dirty="0" smtClean="0">
                <a:solidFill>
                  <a:srgbClr val="FF0000"/>
                </a:solidFill>
              </a:rPr>
              <a:t>Consequence 3: Teams should be improved, not enlarged.</a:t>
            </a:r>
          </a:p>
          <a:p>
            <a:r>
              <a:rPr lang="en-US" dirty="0" smtClean="0"/>
              <a:t>Here is a common problem: A manager has a ten person team that sits close together and achieves high communication rates with little energy.</a:t>
            </a:r>
          </a:p>
          <a:p>
            <a:r>
              <a:rPr lang="en-US" dirty="0" smtClean="0"/>
              <a:t>The manager needs to increase the team's output.</a:t>
            </a:r>
          </a:p>
          <a:p>
            <a:r>
              <a:rPr lang="en-US" dirty="0" smtClean="0"/>
              <a:t>He has two choices: add people or keep the team the same size and do something different within the team.</a:t>
            </a:r>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dirty="0" smtClean="0"/>
              <a:t>If he increases the team size from 10 to 15, the communications load, communications distances, training, meeting, and documentation needs go up.</a:t>
            </a:r>
          </a:p>
          <a:p>
            <a:r>
              <a:rPr lang="en-US" dirty="0" smtClean="0"/>
              <a:t>Most of the money spent on this new group will get spent on communications overhead, without producing more output.</a:t>
            </a:r>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7500" lnSpcReduction="20000"/>
          </a:bodyPr>
          <a:lstStyle/>
          <a:p>
            <a:r>
              <a:rPr lang="en-US" dirty="0" smtClean="0"/>
              <a:t>The second strategy, which seems less obvious, is to lock the team size at 10 people (the maximum that can be coordinated through casual coordination) and improve the people on the team.</a:t>
            </a:r>
          </a:p>
          <a:p>
            <a:r>
              <a:rPr lang="en-US" dirty="0" smtClean="0"/>
              <a:t>To improve the individuals on the team, the manager can do any or all of the following:</a:t>
            </a:r>
          </a:p>
          <a:p>
            <a:r>
              <a:rPr lang="en-US" dirty="0" smtClean="0"/>
              <a:t> Send them to courses to improve their skills.</a:t>
            </a:r>
          </a:p>
          <a:p>
            <a:r>
              <a:rPr lang="en-US" dirty="0" smtClean="0"/>
              <a:t> Seat them closer together to reduce communications cost.</a:t>
            </a:r>
          </a:p>
          <a:p>
            <a:r>
              <a:rPr lang="en-US" dirty="0" smtClean="0"/>
              <a:t> Improve their amicability and teamwork.</a:t>
            </a:r>
          </a:p>
          <a:p>
            <a:r>
              <a:rPr lang="en-US" dirty="0" smtClean="0"/>
              <a:t> Replace some of the people on the team with more    </a:t>
            </a:r>
          </a:p>
          <a:p>
            <a:pPr>
              <a:buNone/>
            </a:pPr>
            <a:r>
              <a:rPr lang="en-US" dirty="0" smtClean="0"/>
              <a:t>      talented (and more highly paid) people.</a:t>
            </a:r>
          </a:p>
          <a:p>
            <a:r>
              <a:rPr lang="en-US" dirty="0" smtClean="0"/>
              <a:t>Repeating the strategy over time, the manager will</a:t>
            </a:r>
          </a:p>
          <a:p>
            <a:pPr>
              <a:buNone/>
            </a:pPr>
            <a:r>
              <a:rPr lang="en-US" dirty="0" smtClean="0"/>
              <a:t>     keep finding better and better people who work better</a:t>
            </a:r>
          </a:p>
          <a:p>
            <a:pPr>
              <a:buNone/>
            </a:pPr>
            <a:r>
              <a:rPr lang="en-US" dirty="0" smtClean="0"/>
              <a:t>     and better together.</a:t>
            </a:r>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US" dirty="0" smtClean="0">
                <a:solidFill>
                  <a:srgbClr val="FF0000"/>
                </a:solidFill>
              </a:rPr>
              <a:t>Consequence 4: Different methodologies are needed for different projects</a:t>
            </a:r>
          </a:p>
          <a:p>
            <a:pPr>
              <a:buNone/>
            </a:pPr>
            <a:r>
              <a:rPr lang="en-US" dirty="0" smtClean="0"/>
              <a:t>Select appropriate methodology depending on the nature of the project which includes :</a:t>
            </a:r>
          </a:p>
          <a:p>
            <a:pPr>
              <a:buNone/>
            </a:pPr>
            <a:r>
              <a:rPr lang="en-US" dirty="0" smtClean="0"/>
              <a:t>     * the number of people being coordinated</a:t>
            </a:r>
          </a:p>
          <a:p>
            <a:pPr>
              <a:buNone/>
            </a:pPr>
            <a:r>
              <a:rPr lang="en-US" dirty="0" smtClean="0"/>
              <a:t>     * the system criticality</a:t>
            </a:r>
          </a:p>
          <a:p>
            <a:pPr>
              <a:buNone/>
            </a:pPr>
            <a:r>
              <a:rPr lang="en-US" dirty="0" smtClean="0"/>
              <a:t>     * the project priorities</a:t>
            </a:r>
          </a:p>
          <a:p>
            <a:pPr>
              <a:buNone/>
            </a:pPr>
            <a:r>
              <a:rPr lang="en-US" dirty="0" smtClean="0">
                <a:solidFill>
                  <a:srgbClr val="FF0000"/>
                </a:solidFill>
              </a:rPr>
              <a:t>Consequence 5 : Lighter methodologies are better, until they run out of steam</a:t>
            </a:r>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smtClean="0"/>
              <a:t>A small team with a light methodology can sometimes solve the same problem as a larger team with a heavier methodology.</a:t>
            </a:r>
          </a:p>
          <a:p>
            <a:r>
              <a:rPr lang="en-US" dirty="0" smtClean="0"/>
              <a:t>From a project cost point of view, as long as the problem can be solved with 10 people in a room, that will be more effective than adding more people.</a:t>
            </a:r>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r>
              <a:rPr lang="en-US" dirty="0" smtClean="0">
                <a:solidFill>
                  <a:srgbClr val="FF0000"/>
                </a:solidFill>
              </a:rPr>
              <a:t>Consequence 6 : Methodologies should be stretched to fit</a:t>
            </a:r>
          </a:p>
          <a:p>
            <a:r>
              <a:rPr lang="en-US" dirty="0" smtClean="0"/>
              <a:t>Look for the lightest, most “face-to-face” centric methodology that will work for the project</a:t>
            </a:r>
          </a:p>
          <a:p>
            <a:r>
              <a:rPr lang="en-US" dirty="0" smtClean="0"/>
              <a:t>Then stretch the methodology</a:t>
            </a:r>
          </a:p>
          <a:p>
            <a:pPr>
              <a:buNone/>
            </a:pPr>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r>
              <a:rPr lang="en-US" dirty="0" smtClean="0"/>
              <a:t/>
            </a:r>
            <a:br>
              <a:rPr lang="en-US" dirty="0" smtClean="0"/>
            </a:br>
            <a:r>
              <a:rPr lang="en-US" dirty="0" smtClean="0"/>
              <a:t>XP UNDER GLASS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u="sng" dirty="0" smtClean="0"/>
              <a:t>XP in a Nutshell</a:t>
            </a:r>
          </a:p>
          <a:p>
            <a:r>
              <a:rPr lang="en-US" dirty="0" smtClean="0"/>
              <a:t>Use only 3-10 programmers. Arrange for one or several customers to be on site to provide ongoing expertise. Everyone works in one room or adjacent rooms, preferably with the workstations clustered, monitors facing outwards in a circle, half as many workstations as programmers.</a:t>
            </a:r>
          </a:p>
          <a:p>
            <a:r>
              <a:rPr lang="en-US" dirty="0" smtClean="0"/>
              <a:t>Do development in three-week periods, or "iterations." Each iteration results in running, tested code of direct use to the customers. The compiled system is rolled out to its end users at the   end of each release period, which may be every two to five iterations. </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20000"/>
          </a:bodyPr>
          <a:lstStyle/>
          <a:p>
            <a:r>
              <a:rPr lang="en-US" dirty="0" smtClean="0"/>
              <a:t>The unit of requirements gathering is the "user story," user-visible functionality that can be developed within one iteration. The customers write the stories for the iteration onto simple index cards. The customer(s) and programmers negotiate what will get done in the next iteration in the following way:</a:t>
            </a:r>
          </a:p>
          <a:p>
            <a:r>
              <a:rPr lang="en-US" dirty="0" smtClean="0"/>
              <a:t>The programmers estimate the time to</a:t>
            </a:r>
          </a:p>
          <a:p>
            <a:pPr>
              <a:buNone/>
            </a:pPr>
            <a:r>
              <a:rPr lang="en-US" dirty="0" smtClean="0"/>
              <a:t>    complete each card.</a:t>
            </a:r>
          </a:p>
          <a:p>
            <a:r>
              <a:rPr lang="en-US" dirty="0" smtClean="0"/>
              <a:t>The customers prioritize, alter, and de-scope as</a:t>
            </a:r>
          </a:p>
          <a:p>
            <a:pPr>
              <a:buNone/>
            </a:pPr>
            <a:r>
              <a:rPr lang="en-US" dirty="0" smtClean="0"/>
              <a:t>     needed so that the most valuable stories are</a:t>
            </a:r>
          </a:p>
          <a:p>
            <a:pPr>
              <a:buNone/>
            </a:pPr>
            <a:r>
              <a:rPr lang="en-US" dirty="0" smtClean="0"/>
              <a:t>     most likely to get done in the allotted time</a:t>
            </a:r>
          </a:p>
          <a:p>
            <a:pPr>
              <a:buNone/>
            </a:pPr>
            <a:r>
              <a:rPr lang="en-US" dirty="0" smtClean="0"/>
              <a:t>     period.</a:t>
            </a:r>
            <a:endParaRPr 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The programmers write the tasks for each story on flipcharts on the wall or a whiteboard, estimating the time they will need for each task.</a:t>
            </a:r>
          </a:p>
          <a:p>
            <a:r>
              <a:rPr lang="en-US" dirty="0" smtClean="0"/>
              <a:t>Over time, the customers and programmers can reprioritize or de-scope the tasks or stories.</a:t>
            </a:r>
          </a:p>
          <a:p>
            <a:r>
              <a:rPr lang="en-US" dirty="0" smtClean="0"/>
              <a:t>Development on a story starts with the</a:t>
            </a:r>
          </a:p>
          <a:p>
            <a:pPr>
              <a:buNone/>
            </a:pPr>
            <a:r>
              <a:rPr lang="en-US" dirty="0" smtClean="0"/>
              <a:t>   programmers discussing the story with the expert</a:t>
            </a:r>
          </a:p>
          <a:p>
            <a:pPr>
              <a:buNone/>
            </a:pPr>
            <a:r>
              <a:rPr lang="en-US" dirty="0" smtClean="0"/>
              <a:t>   customer.</a:t>
            </a:r>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20000"/>
          </a:bodyPr>
          <a:lstStyle/>
          <a:p>
            <a:r>
              <a:rPr lang="en-US" dirty="0" smtClean="0"/>
              <a:t>Programmers work in pairs. They follow strict</a:t>
            </a:r>
          </a:p>
          <a:p>
            <a:pPr>
              <a:buNone/>
            </a:pPr>
            <a:r>
              <a:rPr lang="en-US" dirty="0" smtClean="0"/>
              <a:t>   coding standards that they set up at the beginning</a:t>
            </a:r>
          </a:p>
          <a:p>
            <a:pPr>
              <a:buNone/>
            </a:pPr>
            <a:r>
              <a:rPr lang="en-US" dirty="0" smtClean="0"/>
              <a:t>   of the project. </a:t>
            </a:r>
          </a:p>
          <a:p>
            <a:pPr>
              <a:buFont typeface="Arial" charset="0"/>
              <a:buChar char="•"/>
            </a:pPr>
            <a:r>
              <a:rPr lang="en-US" dirty="0" smtClean="0"/>
              <a:t>They create unit tests for everything   they write and make sure that those tests run at   100% every time they check in their code to the   mandatory versioning and configuration management   system. </a:t>
            </a:r>
          </a:p>
          <a:p>
            <a:pPr>
              <a:buFont typeface="Arial" charset="0"/>
              <a:buChar char="•"/>
            </a:pPr>
            <a:r>
              <a:rPr lang="en-US" dirty="0" smtClean="0"/>
              <a:t>They develop in tiny increments of 15 minutes to a few hours long, integrating their code several times a day. At the end of each of these integrations, they ensure that the entire code base passes all unit tests.</a:t>
            </a:r>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77500" lnSpcReduction="20000"/>
          </a:bodyPr>
          <a:lstStyle/>
          <a:p>
            <a:r>
              <a:rPr lang="en-US" dirty="0" smtClean="0"/>
              <a:t>While the programmers are working, the customers are doing three things: </a:t>
            </a:r>
          </a:p>
          <a:p>
            <a:r>
              <a:rPr lang="en-US" dirty="0" smtClean="0"/>
              <a:t>They visit with the programmers to clarify ideas, they write system acceptance tests to be run during and at the end of the iteration, and they select stories to be built for the next iteration. They may be on the project full time or not, as they decide.</a:t>
            </a:r>
          </a:p>
          <a:p>
            <a:pPr>
              <a:buNone/>
            </a:pPr>
            <a:endParaRPr lang="en-US" dirty="0" smtClean="0"/>
          </a:p>
          <a:p>
            <a:r>
              <a:rPr lang="en-US" dirty="0" smtClean="0"/>
              <a:t>The team holds a stand-up meeting every day, in which they describe what they are working on, what is working well for them, and what they might need help with. The meeting is held standing up to keep it short. At the end of each iteration, they hold another meeting in which they review what they did well and what they want to work on next time. They post this list for all to see during the next iteration. </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lnSpcReduction="10000"/>
          </a:bodyPr>
          <a:lstStyle/>
          <a:p>
            <a:r>
              <a:rPr lang="en-US" dirty="0" smtClean="0"/>
              <a:t>XP prizes four values: communication,</a:t>
            </a:r>
          </a:p>
          <a:p>
            <a:pPr>
              <a:buNone/>
            </a:pPr>
            <a:r>
              <a:rPr lang="en-US" dirty="0" smtClean="0"/>
              <a:t>     simplicity, testing, and courage. </a:t>
            </a:r>
          </a:p>
          <a:p>
            <a:r>
              <a:rPr lang="en-US" dirty="0" smtClean="0"/>
              <a:t>The "courage“ value is intended as courage to go ahead and make improvements to the system at any time. </a:t>
            </a:r>
          </a:p>
          <a:p>
            <a:r>
              <a:rPr lang="en-US" dirty="0" smtClean="0"/>
              <a:t>One person on the team is designated the</a:t>
            </a:r>
          </a:p>
          <a:p>
            <a:pPr>
              <a:buNone/>
            </a:pPr>
            <a:r>
              <a:rPr lang="en-US" dirty="0" smtClean="0"/>
              <a:t>   "coach" for the team. This person reviews with the team members their use of the key practices: use of pair programming and testing, pair rotation, keeping design simple, communicating, and so on.</a:t>
            </a:r>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lnSpcReduction="10000"/>
          </a:bodyPr>
          <a:lstStyle/>
          <a:p>
            <a:r>
              <a:rPr lang="en-US" dirty="0" smtClean="0"/>
              <a:t>An XP team makes great use of osmotic</a:t>
            </a:r>
          </a:p>
          <a:p>
            <a:pPr>
              <a:buNone/>
            </a:pPr>
            <a:r>
              <a:rPr lang="en-US" dirty="0" smtClean="0"/>
              <a:t>    communication, face-to-face communication, convection currents of information flow, and</a:t>
            </a:r>
          </a:p>
          <a:p>
            <a:pPr>
              <a:buNone/>
            </a:pPr>
            <a:r>
              <a:rPr lang="en-US" dirty="0" smtClean="0"/>
              <a:t>    information radiators on the wall.</a:t>
            </a:r>
          </a:p>
          <a:p>
            <a:r>
              <a:rPr lang="en-US" dirty="0" smtClean="0"/>
              <a:t>Feedback is rapid. The customers get quick</a:t>
            </a:r>
          </a:p>
          <a:p>
            <a:pPr>
              <a:buNone/>
            </a:pPr>
            <a:r>
              <a:rPr lang="en-US" dirty="0" smtClean="0"/>
              <a:t>    feedback as to the implementation implications of their requirements requests during the planning session. They see running code within days and can adjust accordingly their views on what should really be programmed.</a:t>
            </a:r>
          </a:p>
          <a:p>
            <a:endParaRPr 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XP is a high-discipline methodology. It calls for</a:t>
            </a:r>
          </a:p>
          <a:p>
            <a:pPr>
              <a:buNone/>
            </a:pPr>
            <a:r>
              <a:rPr lang="en-US" dirty="0" smtClean="0"/>
              <a:t>   tight adherence to strict coding and design</a:t>
            </a:r>
          </a:p>
          <a:p>
            <a:pPr>
              <a:buNone/>
            </a:pPr>
            <a:r>
              <a:rPr lang="en-US" dirty="0" smtClean="0"/>
              <a:t>    standards, strong unit test suites that must pass at all times, good acceptance tests, constant working in pairs, vigilance in keeping the design simple, and aggressive refactoring.</a:t>
            </a:r>
            <a:endParaRPr 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10000"/>
          </a:bodyPr>
          <a:lstStyle/>
          <a:p>
            <a:r>
              <a:rPr lang="en-US" dirty="0" smtClean="0"/>
              <a:t>There are some high-ceremony (low-tolerance)</a:t>
            </a:r>
          </a:p>
          <a:p>
            <a:pPr>
              <a:buNone/>
            </a:pPr>
            <a:r>
              <a:rPr lang="en-US" dirty="0" smtClean="0"/>
              <a:t>     standards. The policy standards include the use of</a:t>
            </a:r>
          </a:p>
          <a:p>
            <a:pPr>
              <a:buNone/>
            </a:pPr>
            <a:r>
              <a:rPr lang="en-US" dirty="0" smtClean="0"/>
              <a:t>     iterations. </a:t>
            </a:r>
          </a:p>
          <a:p>
            <a:pPr>
              <a:buNone/>
            </a:pPr>
            <a:r>
              <a:rPr lang="en-US" dirty="0" smtClean="0"/>
              <a:t> * Design and programming are done in</a:t>
            </a:r>
          </a:p>
          <a:p>
            <a:pPr>
              <a:buNone/>
            </a:pPr>
            <a:r>
              <a:rPr lang="en-US" dirty="0" smtClean="0"/>
              <a:t>     tiny increments of hours or a few days. </a:t>
            </a:r>
          </a:p>
          <a:p>
            <a:pPr>
              <a:buNone/>
            </a:pPr>
            <a:r>
              <a:rPr lang="en-US" dirty="0" smtClean="0"/>
              <a:t>  * Planning and development cycles are two to four weeks,      releases one to four months. </a:t>
            </a:r>
          </a:p>
          <a:p>
            <a:pPr>
              <a:buNone/>
            </a:pPr>
            <a:r>
              <a:rPr lang="en-US" dirty="0" smtClean="0"/>
              <a:t>*  The testing policy      standard is that all unit tests run at 100% for all checked-in code. A policy standard states that the team is to be </a:t>
            </a:r>
            <a:r>
              <a:rPr lang="en-US" dirty="0" err="1" smtClean="0"/>
              <a:t>colocated</a:t>
            </a:r>
            <a:r>
              <a:rPr lang="en-US" dirty="0" smtClean="0"/>
              <a:t>, with a strong</a:t>
            </a:r>
          </a:p>
          <a:p>
            <a:pPr>
              <a:buNone/>
            </a:pPr>
            <a:r>
              <a:rPr lang="en-US" dirty="0" smtClean="0"/>
              <a:t>     recommendation toward the "caves and commons"</a:t>
            </a:r>
          </a:p>
          <a:p>
            <a:pPr>
              <a:buNone/>
            </a:pPr>
            <a:r>
              <a:rPr lang="en-US" dirty="0" smtClean="0"/>
              <a:t>     seating.</a:t>
            </a:r>
            <a:endParaRPr lang="en-US"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Why methodology at all?</a:t>
            </a:r>
            <a:endParaRPr lang="en-US" dirty="0"/>
          </a:p>
        </p:txBody>
      </p:sp>
      <p:sp>
        <p:nvSpPr>
          <p:cNvPr id="3" name="Content Placeholder 2"/>
          <p:cNvSpPr>
            <a:spLocks noGrp="1"/>
          </p:cNvSpPr>
          <p:nvPr>
            <p:ph idx="1"/>
          </p:nvPr>
        </p:nvSpPr>
        <p:spPr/>
        <p:txBody>
          <a:bodyPr>
            <a:normAutofit/>
          </a:bodyPr>
          <a:lstStyle/>
          <a:p>
            <a:pPr>
              <a:buNone/>
            </a:pPr>
            <a:r>
              <a:rPr lang="en-US" u="sng" dirty="0" smtClean="0"/>
              <a:t>Benefits of using methodology</a:t>
            </a:r>
          </a:p>
          <a:p>
            <a:pPr>
              <a:buNone/>
            </a:pPr>
            <a:r>
              <a:rPr lang="en-US" i="1" dirty="0" smtClean="0"/>
              <a:t>1. Introducing new people to the process</a:t>
            </a:r>
          </a:p>
          <a:p>
            <a:r>
              <a:rPr lang="en-US" dirty="0" smtClean="0"/>
              <a:t>"Hi, how do we work around here?" is a natural question for new team members to ask. It is helpful to have something available so they can learn their place in the organization.</a:t>
            </a:r>
            <a:endParaRPr lang="en-US" u="sng"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126163"/>
          </a:xfrm>
        </p:spPr>
        <p:txBody>
          <a:bodyPr>
            <a:normAutofit fontScale="92500" lnSpcReduction="10000"/>
          </a:bodyPr>
          <a:lstStyle/>
          <a:p>
            <a:pPr>
              <a:buNone/>
            </a:pPr>
            <a:r>
              <a:rPr lang="en-US" dirty="0" smtClean="0"/>
              <a:t>2. Substituting people</a:t>
            </a:r>
          </a:p>
          <a:p>
            <a:r>
              <a:rPr lang="en-US" dirty="0" smtClean="0"/>
              <a:t>Although people are not plug-replaceable, they often do need to be replaced</a:t>
            </a:r>
          </a:p>
          <a:p>
            <a:r>
              <a:rPr lang="en-US" dirty="0" smtClean="0"/>
              <a:t>A colleague was being hired by a contracting</a:t>
            </a:r>
          </a:p>
          <a:p>
            <a:pPr>
              <a:buNone/>
            </a:pPr>
            <a:r>
              <a:rPr lang="en-US" dirty="0" smtClean="0"/>
              <a:t>   company he didn't know, to do some proposal</a:t>
            </a:r>
          </a:p>
          <a:p>
            <a:pPr>
              <a:buNone/>
            </a:pPr>
            <a:r>
              <a:rPr lang="en-US" dirty="0" smtClean="0"/>
              <a:t>    work in a field he didn't know, for a client he</a:t>
            </a:r>
          </a:p>
          <a:p>
            <a:pPr>
              <a:buNone/>
            </a:pPr>
            <a:r>
              <a:rPr lang="en-US" dirty="0" smtClean="0"/>
              <a:t>   didn't know.</a:t>
            </a:r>
          </a:p>
          <a:p>
            <a:r>
              <a:rPr lang="en-US" dirty="0" smtClean="0"/>
              <a:t>The contract lead sat with him for two days</a:t>
            </a:r>
          </a:p>
          <a:p>
            <a:pPr>
              <a:buNone/>
            </a:pPr>
            <a:r>
              <a:rPr lang="en-US" dirty="0" smtClean="0"/>
              <a:t>   reviewing the company’s methodology: who</a:t>
            </a:r>
          </a:p>
          <a:p>
            <a:pPr>
              <a:buNone/>
            </a:pPr>
            <a:r>
              <a:rPr lang="en-US" dirty="0" smtClean="0"/>
              <a:t>   produced what, how the work products were</a:t>
            </a:r>
          </a:p>
          <a:p>
            <a:pPr>
              <a:buNone/>
            </a:pPr>
            <a:r>
              <a:rPr lang="en-US" dirty="0" smtClean="0"/>
              <a:t>    structured, what standards were needed, what</a:t>
            </a:r>
          </a:p>
          <a:p>
            <a:pPr>
              <a:buNone/>
            </a:pPr>
            <a:r>
              <a:rPr lang="en-US" dirty="0" smtClean="0"/>
              <a:t>   his priorities should be, who he would talk to.</a:t>
            </a:r>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a:buNone/>
            </a:pPr>
            <a:r>
              <a:rPr lang="en-US" i="1" dirty="0" smtClean="0"/>
              <a:t>3. Delineating responsibilities</a:t>
            </a:r>
          </a:p>
          <a:p>
            <a:r>
              <a:rPr lang="en-US" dirty="0" smtClean="0"/>
              <a:t>A methodology indicates what is </a:t>
            </a:r>
            <a:r>
              <a:rPr lang="en-US" i="1" dirty="0" smtClean="0"/>
              <a:t>not part of a</a:t>
            </a:r>
          </a:p>
          <a:p>
            <a:pPr>
              <a:buNone/>
            </a:pPr>
            <a:r>
              <a:rPr lang="en-US" dirty="0" smtClean="0"/>
              <a:t>   person's job. Thus, XP states that decisions about a story's priority belong to the customer, not the programmer; design estimates are made by the programmers, not the customer.</a:t>
            </a:r>
            <a:endParaRPr 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i="1" dirty="0" smtClean="0"/>
              <a:t>4. Impressing the sponsors</a:t>
            </a:r>
          </a:p>
          <a:p>
            <a:pPr>
              <a:buNone/>
            </a:pPr>
            <a:r>
              <a:rPr lang="en-US" i="1" dirty="0" smtClean="0"/>
              <a:t>5. Demonstrating visible progress</a:t>
            </a:r>
          </a:p>
          <a:p>
            <a:pPr>
              <a:buNone/>
            </a:pPr>
            <a:r>
              <a:rPr lang="en-US" dirty="0" smtClean="0"/>
              <a:t>    Related to impressing the sponsors, the purpose of the methodology may be to allow the contractors to show their sponsors what they have been doing.</a:t>
            </a:r>
          </a:p>
          <a:p>
            <a:pPr>
              <a:buNone/>
            </a:pPr>
            <a:r>
              <a:rPr lang="en-US" dirty="0" smtClean="0"/>
              <a:t>    XP team could show every single day to demonstrate visible progress to the sponsors.</a:t>
            </a:r>
          </a:p>
          <a:p>
            <a:pPr>
              <a:buNone/>
            </a:pPr>
            <a:r>
              <a:rPr lang="en-US" i="1" dirty="0" smtClean="0"/>
              <a:t>6. Curriculum for education</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After a methodology names techniques and</a:t>
            </a:r>
          </a:p>
          <a:p>
            <a:pPr>
              <a:buNone/>
            </a:pPr>
            <a:r>
              <a:rPr lang="en-US" dirty="0" smtClean="0"/>
              <a:t>     standards for people to use, courses can be found or</a:t>
            </a:r>
          </a:p>
          <a:p>
            <a:pPr>
              <a:buNone/>
            </a:pPr>
            <a:r>
              <a:rPr lang="en-US" dirty="0" smtClean="0"/>
              <a:t>     designed that teach skills around those techniques</a:t>
            </a:r>
          </a:p>
          <a:p>
            <a:pPr>
              <a:buNone/>
            </a:pPr>
            <a:r>
              <a:rPr lang="en-US" dirty="0" smtClean="0"/>
              <a:t>     and standards.</a:t>
            </a:r>
          </a:p>
          <a:p>
            <a:r>
              <a:rPr lang="en-US" dirty="0" smtClean="0"/>
              <a:t>For example, the people can be sent, according to</a:t>
            </a:r>
          </a:p>
          <a:p>
            <a:pPr>
              <a:buNone/>
            </a:pPr>
            <a:r>
              <a:rPr lang="en-US" dirty="0" smtClean="0"/>
              <a:t>    their job responsibilities, to develop skills in writing</a:t>
            </a:r>
          </a:p>
          <a:p>
            <a:pPr>
              <a:buNone/>
            </a:pPr>
            <a:r>
              <a:rPr lang="en-US" dirty="0" smtClean="0"/>
              <a:t>     use cases, facilitating meetings, semantic modeling,</a:t>
            </a:r>
          </a:p>
          <a:p>
            <a:pPr>
              <a:buNone/>
            </a:pPr>
            <a:r>
              <a:rPr lang="en-US" dirty="0" smtClean="0"/>
              <a:t>    programming, and the use of various tools.</a:t>
            </a:r>
            <a:endParaRPr 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Evaluating a Methodology</a:t>
            </a:r>
            <a:br>
              <a:rPr lang="en-US" b="1" dirty="0" smtClean="0"/>
            </a:b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dirty="0" smtClean="0"/>
              <a:t>In light of the above, how might you evaluate a methodology?</a:t>
            </a:r>
          </a:p>
          <a:p>
            <a:pPr>
              <a:buNone/>
            </a:pPr>
            <a:endParaRPr lang="en-US" dirty="0" smtClean="0"/>
          </a:p>
          <a:p>
            <a:r>
              <a:rPr lang="en-US" dirty="0" smtClean="0"/>
              <a:t>You would first ask why the methodology exists, and then what game you are playing. Based on those you might evaluate the methodology for: </a:t>
            </a:r>
          </a:p>
          <a:p>
            <a:pPr>
              <a:buNone/>
            </a:pPr>
            <a:r>
              <a:rPr lang="en-US" dirty="0" smtClean="0"/>
              <a:t>*  How rapidly you can substitute or train people</a:t>
            </a:r>
          </a:p>
          <a:p>
            <a:pPr>
              <a:buNone/>
            </a:pPr>
            <a:r>
              <a:rPr lang="en-US" dirty="0" smtClean="0"/>
              <a:t>* How great an effect it has on the sales process</a:t>
            </a:r>
          </a:p>
          <a:p>
            <a:pPr>
              <a:buFont typeface="Arial" charset="0"/>
              <a:buChar char="•"/>
            </a:pPr>
            <a:r>
              <a:rPr lang="en-US" dirty="0" smtClean="0"/>
              <a:t>How much freedom it gives people (or how constraining it is)</a:t>
            </a:r>
          </a:p>
          <a:p>
            <a:pPr>
              <a:buFont typeface="Arial" charset="0"/>
              <a:buChar char="•"/>
            </a:pPr>
            <a:r>
              <a:rPr lang="en-US" dirty="0" smtClean="0"/>
              <a:t>How fast it allows people to respond to changing situations</a:t>
            </a:r>
          </a:p>
          <a:p>
            <a:r>
              <a:rPr lang="en-US" dirty="0" smtClean="0"/>
              <a:t>How well it protects your organization from lawsuits or other damage</a:t>
            </a:r>
          </a:p>
          <a:p>
            <a:pPr>
              <a:buNone/>
            </a:pPr>
            <a:r>
              <a:rPr lang="en-US" dirty="0" smtClean="0"/>
              <a:t>      </a:t>
            </a:r>
            <a:r>
              <a:rPr lang="en-US" b="1" dirty="0" smtClean="0">
                <a:solidFill>
                  <a:srgbClr val="FF0000"/>
                </a:solidFill>
              </a:rPr>
              <a:t>----------------------------End of Chapter 4------------------------------</a:t>
            </a:r>
            <a:endParaRPr lang="en-US" b="1" dirty="0">
              <a:solidFill>
                <a:srgbClr val="FF000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486</TotalTime>
  <Words>4037</Words>
  <Application>Microsoft Office PowerPoint</Application>
  <PresentationFormat>On-screen Show (4:3)</PresentationFormat>
  <Paragraphs>342</Paragraphs>
  <Slides>87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87</vt:i4>
      </vt:variant>
    </vt:vector>
  </HeadingPairs>
  <TitlesOfParts>
    <vt:vector size="91" baseType="lpstr">
      <vt:lpstr>Arial</vt:lpstr>
      <vt:lpstr>Calibri</vt:lpstr>
      <vt:lpstr>Wingdings</vt:lpstr>
      <vt:lpstr>Office Theme</vt:lpstr>
      <vt:lpstr>Chapter 4 Methodologies </vt:lpstr>
      <vt:lpstr>Chapter 4 –Methodologies </vt:lpstr>
      <vt:lpstr>An Ecosystem that Ships Software  </vt:lpstr>
      <vt:lpstr>Methodology concepts</vt:lpstr>
      <vt:lpstr>MBWA</vt:lpstr>
      <vt:lpstr>JAD</vt:lpstr>
      <vt:lpstr>PowerPoint Presentation</vt:lpstr>
      <vt:lpstr>Elements of 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Methodologies</vt:lpstr>
      <vt:lpstr>1. Normative</vt:lpstr>
      <vt:lpstr>2. Rational</vt:lpstr>
      <vt:lpstr>3. Participative</vt:lpstr>
      <vt:lpstr>4. Heuristic</vt:lpstr>
      <vt:lpstr>Milestones</vt:lpstr>
      <vt:lpstr>Reviews</vt:lpstr>
      <vt:lpstr>Publication</vt:lpstr>
      <vt:lpstr>Declaration</vt:lpstr>
      <vt:lpstr>Scope of Methodology</vt:lpstr>
      <vt:lpstr>Three dimensions of scope</vt:lpstr>
      <vt:lpstr>Life cycle coverage</vt:lpstr>
      <vt:lpstr>CONCEPTUAL TERMS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Serial development &amp; concurrent development</vt:lpstr>
      <vt:lpstr>PowerPoint Presentation</vt:lpstr>
      <vt:lpstr>PowerPoint Presentation</vt:lpstr>
      <vt:lpstr>Serial development</vt:lpstr>
      <vt:lpstr>PowerPoint Presentation</vt:lpstr>
      <vt:lpstr>PowerPoint Presentation</vt:lpstr>
      <vt:lpstr>PowerPoint Presentation</vt:lpstr>
      <vt:lpstr>Seven principles useful in designing and evaluating methodologies</vt:lpstr>
      <vt:lpstr>Principle 1 : Interactive, face-to-face communication is the cheapest and fastest channel for exchanging information</vt:lpstr>
      <vt:lpstr>Principle 2 : Excess methodology weight is costly</vt:lpstr>
      <vt:lpstr>Principle 2  Contd…</vt:lpstr>
      <vt:lpstr>PowerPoint Presentation</vt:lpstr>
      <vt:lpstr>PowerPoint Presentation</vt:lpstr>
      <vt:lpstr>Principle 3 : Larger teams need heavier methodologies</vt:lpstr>
      <vt:lpstr>PowerPoint Presentation</vt:lpstr>
      <vt:lpstr>PowerPoint Presentation</vt:lpstr>
      <vt:lpstr>Principle 4 : Greater ceremony is appropriate for projects with greater criticality</vt:lpstr>
      <vt:lpstr>Principle 5 : Increasing feedback and communication reduces the need for intermediate deliverables</vt:lpstr>
      <vt:lpstr>PowerPoint Presentation</vt:lpstr>
      <vt:lpstr>Principle 6 : Discipline, skills and understanding counter process, formality and documentation</vt:lpstr>
      <vt:lpstr>PowerPoint Presentation</vt:lpstr>
      <vt:lpstr>Principle 7 : Efficiency is expendable in nonbottleneck actvities</vt:lpstr>
      <vt:lpstr> Consequence 1 : Do whatever you can to speed up the work at the bottleneck activity</vt:lpstr>
      <vt:lpstr>Consequence 2: People at the non bottleneck activities can work inefficiently without affecting the overall speed of the project</vt:lpstr>
      <vt:lpstr>PowerPoint Presentation</vt:lpstr>
      <vt:lpstr>Consequence 3: Applying the principles of expendable efficiency yields different methodologies in different situations, even keeping the other principles in place</vt:lpstr>
      <vt:lpstr>PowerPoint Presentation</vt:lpstr>
      <vt:lpstr>PowerPoint Presentation</vt:lpstr>
      <vt:lpstr>Consequences of the Principles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XP UNDER GLASS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Why methodology at all?</vt:lpstr>
      <vt:lpstr>PowerPoint Presentation</vt:lpstr>
      <vt:lpstr>PowerPoint Presentation</vt:lpstr>
      <vt:lpstr>PowerPoint Presentation</vt:lpstr>
      <vt:lpstr>PowerPoint Presentation</vt:lpstr>
      <vt:lpstr>Evaluating a Methodology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MR</dc:creator>
  <cp:lastModifiedBy>MR</cp:lastModifiedBy>
  <cp:revision>152</cp:revision>
  <dcterms:created xsi:type="dcterms:W3CDTF">2006-08-16T00:00:00Z</dcterms:created>
  <dcterms:modified xsi:type="dcterms:W3CDTF">2025-02-10T08:27:36Z</dcterms:modified>
</cp:coreProperties>
</file>